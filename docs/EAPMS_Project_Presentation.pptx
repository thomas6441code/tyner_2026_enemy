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B"/>
        </a:solidFill>
      </p:bgPr>
    </p:bg>
    <p:spTree>
      <p:nvGrpSpPr>
        <p:cNvPr id="1" name=""/>
        <p:cNvGrpSpPr/>
        <p:nvPr/>
      </p:nvGrpSpPr>
      <p:grpSpPr>
        <a:xfrm>
          <a:off x="0" y="0"/>
          <a:ext cx="0" cy="0"/>
          <a:chOff x="0" y="0"/>
          <a:chExt cx="0" cy="0"/>
        </a:xfrm>
      </p:grpSpPr>
      <p:sp>
        <p:nvSpPr>
          <p:cNvPr id="2" name="Text 0"/>
          <p:cNvSpPr/>
          <p:nvPr/>
        </p:nvSpPr>
        <p:spPr>
          <a:xfrm>
            <a:off x="685800" y="685800"/>
            <a:ext cx="10817352" cy="365760"/>
          </a:xfrm>
          <a:prstGeom prst="rect">
            <a:avLst/>
          </a:prstGeom>
          <a:noFill/>
          <a:ln/>
        </p:spPr>
        <p:txBody>
          <a:bodyPr wrap="square" lIns="0" tIns="0" rIns="0" bIns="0" rtlCol="0" anchor="ctr"/>
          <a:lstStyle/>
          <a:p>
            <a:pPr algn="ctr" indent="0" marL="0">
              <a:buNone/>
            </a:pPr>
            <a:r>
              <a:rPr lang="en-US" sz="1800" b="1" dirty="0">
                <a:solidFill>
                  <a:srgbClr val="94A3B8"/>
                </a:solidFill>
                <a:latin typeface="Arial" pitchFamily="34" charset="0"/>
                <a:ea typeface="Arial" pitchFamily="34" charset="-122"/>
                <a:cs typeface="Arial" pitchFamily="34" charset="-120"/>
              </a:rPr>
              <a:t>THE INSTITUTE OF FINANCE MANAGEMENT</a:t>
            </a:r>
            <a:endParaRPr lang="en-US" sz="1800" dirty="0"/>
          </a:p>
        </p:txBody>
      </p:sp>
      <p:sp>
        <p:nvSpPr>
          <p:cNvPr id="3" name="Text 1"/>
          <p:cNvSpPr/>
          <p:nvPr/>
        </p:nvSpPr>
        <p:spPr>
          <a:xfrm>
            <a:off x="685800" y="1078992"/>
            <a:ext cx="10817352" cy="365760"/>
          </a:xfrm>
          <a:prstGeom prst="rect">
            <a:avLst/>
          </a:prstGeom>
          <a:noFill/>
          <a:ln/>
        </p:spPr>
        <p:txBody>
          <a:bodyPr wrap="square" lIns="0" tIns="0" rIns="0" bIns="0"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FACULTY OF COMPUTING AND MATHEMATICS</a:t>
            </a:r>
            <a:endParaRPr lang="en-US" sz="1600" dirty="0"/>
          </a:p>
        </p:txBody>
      </p:sp>
      <p:sp>
        <p:nvSpPr>
          <p:cNvPr id="4" name="Text 2"/>
          <p:cNvSpPr/>
          <p:nvPr/>
        </p:nvSpPr>
        <p:spPr>
          <a:xfrm>
            <a:off x="685800" y="1874520"/>
            <a:ext cx="10817352" cy="1051560"/>
          </a:xfrm>
          <a:prstGeom prst="rect">
            <a:avLst/>
          </a:prstGeom>
          <a:noFill/>
          <a:ln/>
        </p:spPr>
        <p:txBody>
          <a:bodyPr wrap="square" lIns="0" tIns="0" rIns="0" bIns="0" rtlCol="0" anchor="ctr"/>
          <a:lstStyle/>
          <a:p>
            <a:pPr algn="ctr" indent="0" marL="0">
              <a:buNone/>
            </a:pPr>
            <a:r>
              <a:rPr lang="en-US" sz="6000" b="1" dirty="0">
                <a:solidFill>
                  <a:srgbClr val="2EB877"/>
                </a:solidFill>
                <a:latin typeface="Arial" pitchFamily="34" charset="0"/>
                <a:ea typeface="Arial" pitchFamily="34" charset="-122"/>
                <a:cs typeface="Arial" pitchFamily="34" charset="-120"/>
              </a:rPr>
              <a:t>EAPMS</a:t>
            </a:r>
            <a:endParaRPr lang="en-US" sz="6000" dirty="0"/>
          </a:p>
        </p:txBody>
      </p:sp>
      <p:sp>
        <p:nvSpPr>
          <p:cNvPr id="5" name="Text 3"/>
          <p:cNvSpPr/>
          <p:nvPr/>
        </p:nvSpPr>
        <p:spPr>
          <a:xfrm>
            <a:off x="1051560" y="2971800"/>
            <a:ext cx="10085832" cy="960120"/>
          </a:xfrm>
          <a:prstGeom prst="rect">
            <a:avLst/>
          </a:prstGeom>
          <a:noFill/>
          <a:ln/>
        </p:spPr>
        <p:txBody>
          <a:bodyPr wrap="square" lIns="0" tIns="0" rIns="0" bIns="0" rtlCol="0" anchor="ctr"/>
          <a:lstStyle/>
          <a:p>
            <a:pPr algn="ctr" indent="0" marL="0">
              <a:lnSpc>
                <a:spcPct val="120000"/>
              </a:lnSpc>
              <a:buNone/>
            </a:pPr>
            <a:r>
              <a:rPr lang="en-US" sz="2000" dirty="0">
                <a:solidFill>
                  <a:srgbClr val="FFFFFF"/>
                </a:solidFill>
                <a:latin typeface="Arial" pitchFamily="34" charset="0"/>
                <a:ea typeface="Arial" pitchFamily="34" charset="-122"/>
                <a:cs typeface="Arial" pitchFamily="34" charset="-120"/>
              </a:rPr>
              <a:t>An AI-Enhanced Employee Attendance and Permission Management System —</a:t>
            </a:r>
            <a:endParaRPr lang="en-US" sz="2000" dirty="0"/>
          </a:p>
          <a:p>
            <a:pPr algn="ctr" indent="0" marL="0">
              <a:lnSpc>
                <a:spcPct val="120000"/>
              </a:lnSpc>
              <a:buNone/>
            </a:pPr>
            <a:r>
              <a:rPr lang="en-US" sz="2000" dirty="0">
                <a:solidFill>
                  <a:srgbClr val="FFFFFF"/>
                </a:solidFill>
                <a:latin typeface="Arial" pitchFamily="34" charset="0"/>
                <a:ea typeface="Arial" pitchFamily="34" charset="-122"/>
                <a:cs typeface="Arial" pitchFamily="34" charset="-120"/>
              </a:rPr>
              <a:t>Synchronising Biometric Attendance with Human Resource Permission Records</a:t>
            </a:r>
            <a:endParaRPr lang="en-US" sz="2000" dirty="0"/>
          </a:p>
        </p:txBody>
      </p:sp>
      <p:sp>
        <p:nvSpPr>
          <p:cNvPr id="6" name="Text 4"/>
          <p:cNvSpPr/>
          <p:nvPr/>
        </p:nvSpPr>
        <p:spPr>
          <a:xfrm>
            <a:off x="685800" y="4343400"/>
            <a:ext cx="10817352" cy="411480"/>
          </a:xfrm>
          <a:prstGeom prst="rect">
            <a:avLst/>
          </a:prstGeom>
          <a:noFill/>
          <a:ln/>
        </p:spPr>
        <p:txBody>
          <a:bodyPr wrap="square" lIns="0" tIns="0" rIns="0" bIns="0" rtlCol="0" anchor="ctr"/>
          <a:lstStyle/>
          <a:p>
            <a:pPr algn="ctr" indent="0" marL="0">
              <a:buNone/>
            </a:pPr>
            <a:r>
              <a:rPr lang="en-US" sz="1700" dirty="0">
                <a:solidFill>
                  <a:srgbClr val="94A3B8"/>
                </a:solidFill>
                <a:latin typeface="Arial" pitchFamily="34" charset="0"/>
                <a:ea typeface="Arial" pitchFamily="34" charset="-122"/>
                <a:cs typeface="Arial" pitchFamily="34" charset="-120"/>
              </a:rPr>
              <a:t>THOMAS SHAYO   —   [STUDENT ID]</a:t>
            </a:r>
            <a:endParaRPr lang="en-US" sz="1700" dirty="0"/>
          </a:p>
        </p:txBody>
      </p:sp>
      <p:sp>
        <p:nvSpPr>
          <p:cNvPr id="7" name="Text 5"/>
          <p:cNvSpPr/>
          <p:nvPr/>
        </p:nvSpPr>
        <p:spPr>
          <a:xfrm>
            <a:off x="685800" y="4892040"/>
            <a:ext cx="10817352" cy="365760"/>
          </a:xfrm>
          <a:prstGeom prst="rect">
            <a:avLst/>
          </a:prstGeom>
          <a:noFill/>
          <a:ln/>
        </p:spPr>
        <p:txBody>
          <a:bodyPr wrap="square" lIns="0" tIns="0" rIns="0" bIns="0" rtlCol="0" anchor="ctr"/>
          <a:lstStyle/>
          <a:p>
            <a:pPr algn="ctr" indent="0" marL="0">
              <a:buNone/>
            </a:pPr>
            <a:r>
              <a:rPr lang="en-US" sz="1500" dirty="0">
                <a:solidFill>
                  <a:srgbClr val="94A3B8"/>
                </a:solidFill>
                <a:latin typeface="Arial" pitchFamily="34" charset="0"/>
                <a:ea typeface="Arial" pitchFamily="34" charset="-122"/>
                <a:cs typeface="Arial" pitchFamily="34" charset="-120"/>
              </a:rPr>
              <a:t>Supervisor:  [Supervisor's Name and Title]        Programme:  [PROGRAMME]        Year:  [YEAR]</a:t>
            </a:r>
            <a:endParaRPr lang="en-US" sz="1500" dirty="0"/>
          </a:p>
        </p:txBody>
      </p:sp>
      <p:sp>
        <p:nvSpPr>
          <p:cNvPr id="8" name="Text 6"/>
          <p:cNvSpPr/>
          <p:nvPr/>
        </p:nvSpPr>
        <p:spPr>
          <a:xfrm>
            <a:off x="685800" y="5669280"/>
            <a:ext cx="10817352" cy="365760"/>
          </a:xfrm>
          <a:prstGeom prst="rect">
            <a:avLst/>
          </a:prstGeom>
          <a:noFill/>
          <a:ln/>
        </p:spPr>
        <p:txBody>
          <a:bodyPr wrap="square" lIns="0" tIns="0" rIns="0" bIns="0" rtlCol="0" anchor="ctr"/>
          <a:lstStyle/>
          <a:p>
            <a:pPr algn="ctr" indent="0" marL="0">
              <a:buNone/>
            </a:pPr>
            <a:r>
              <a:rPr lang="en-US" sz="1600" b="1" dirty="0">
                <a:solidFill>
                  <a:srgbClr val="2EB877"/>
                </a:solidFill>
                <a:latin typeface="Arial" pitchFamily="34" charset="0"/>
                <a:ea typeface="Arial" pitchFamily="34" charset="-122"/>
                <a:cs typeface="Arial" pitchFamily="34" charset="-120"/>
              </a:rPr>
              <a:t>August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817352" cy="640080"/>
          </a:xfrm>
          <a:prstGeom prst="rect">
            <a:avLst/>
          </a:prstGeom>
          <a:noFill/>
          <a:ln/>
        </p:spPr>
        <p:txBody>
          <a:bodyPr wrap="square" lIns="0" tIns="0" rIns="0" bIns="0" rtlCol="0" anchor="ctr"/>
          <a:lstStyle/>
          <a:p>
            <a:pPr algn="l" indent="0" marL="0">
              <a:buNone/>
            </a:pPr>
            <a:r>
              <a:rPr lang="en-US" sz="3400" b="1" dirty="0">
                <a:solidFill>
                  <a:srgbClr val="0F172B"/>
                </a:solidFill>
                <a:latin typeface="Arial" pitchFamily="34" charset="0"/>
                <a:ea typeface="Arial" pitchFamily="34" charset="-122"/>
                <a:cs typeface="Arial" pitchFamily="34" charset="-120"/>
              </a:rPr>
              <a:t>Outline of the Presentation</a:t>
            </a:r>
            <a:endParaRPr lang="en-US" sz="3400" dirty="0"/>
          </a:p>
        </p:txBody>
      </p:sp>
      <p:sp>
        <p:nvSpPr>
          <p:cNvPr id="3" name="Shape 1"/>
          <p:cNvSpPr/>
          <p:nvPr/>
        </p:nvSpPr>
        <p:spPr>
          <a:xfrm>
            <a:off x="685800" y="1527048"/>
            <a:ext cx="457200" cy="457200"/>
          </a:xfrm>
          <a:prstGeom prst="ellipse">
            <a:avLst/>
          </a:prstGeom>
          <a:solidFill>
            <a:srgbClr val="147A4C"/>
          </a:solidFill>
          <a:ln w="12700">
            <a:solidFill>
              <a:srgbClr val="147A4C"/>
            </a:solidFill>
            <a:prstDash val="solid"/>
          </a:ln>
        </p:spPr>
      </p:sp>
      <p:sp>
        <p:nvSpPr>
          <p:cNvPr id="4" name="Text 2"/>
          <p:cNvSpPr/>
          <p:nvPr/>
        </p:nvSpPr>
        <p:spPr>
          <a:xfrm>
            <a:off x="685800" y="1527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Text 3"/>
          <p:cNvSpPr/>
          <p:nvPr/>
        </p:nvSpPr>
        <p:spPr>
          <a:xfrm>
            <a:off x="1325880" y="1508760"/>
            <a:ext cx="4498848" cy="502920"/>
          </a:xfrm>
          <a:prstGeom prst="rect">
            <a:avLst/>
          </a:prstGeom>
          <a:noFill/>
          <a:ln/>
        </p:spPr>
        <p:txBody>
          <a:bodyPr wrap="square" lIns="0" tIns="0" rIns="0" bIns="0" rtlCol="0" anchor="ctr"/>
          <a:lstStyle/>
          <a:p>
            <a:pPr algn="l" indent="0" marL="0">
              <a:buNone/>
            </a:pPr>
            <a:r>
              <a:rPr lang="en-US" sz="2100" dirty="0">
                <a:solidFill>
                  <a:srgbClr val="0F172B"/>
                </a:solidFill>
                <a:latin typeface="Arial" pitchFamily="34" charset="0"/>
                <a:ea typeface="Arial" pitchFamily="34" charset="-122"/>
                <a:cs typeface="Arial" pitchFamily="34" charset="-120"/>
              </a:rPr>
              <a:t>Introduction and background</a:t>
            </a:r>
            <a:endParaRPr lang="en-US" sz="2100" dirty="0"/>
          </a:p>
        </p:txBody>
      </p:sp>
      <p:sp>
        <p:nvSpPr>
          <p:cNvPr id="6" name="Shape 4"/>
          <p:cNvSpPr/>
          <p:nvPr/>
        </p:nvSpPr>
        <p:spPr>
          <a:xfrm>
            <a:off x="685800" y="2459736"/>
            <a:ext cx="457200" cy="457200"/>
          </a:xfrm>
          <a:prstGeom prst="ellipse">
            <a:avLst/>
          </a:prstGeom>
          <a:solidFill>
            <a:srgbClr val="147A4C"/>
          </a:solidFill>
          <a:ln w="12700">
            <a:solidFill>
              <a:srgbClr val="147A4C"/>
            </a:solidFill>
            <a:prstDash val="solid"/>
          </a:ln>
        </p:spPr>
      </p:sp>
      <p:sp>
        <p:nvSpPr>
          <p:cNvPr id="7" name="Text 5"/>
          <p:cNvSpPr/>
          <p:nvPr/>
        </p:nvSpPr>
        <p:spPr>
          <a:xfrm>
            <a:off x="685800" y="24597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8" name="Text 6"/>
          <p:cNvSpPr/>
          <p:nvPr/>
        </p:nvSpPr>
        <p:spPr>
          <a:xfrm>
            <a:off x="1325880" y="2441448"/>
            <a:ext cx="4498848" cy="502920"/>
          </a:xfrm>
          <a:prstGeom prst="rect">
            <a:avLst/>
          </a:prstGeom>
          <a:noFill/>
          <a:ln/>
        </p:spPr>
        <p:txBody>
          <a:bodyPr wrap="square" lIns="0" tIns="0" rIns="0" bIns="0" rtlCol="0" anchor="ctr"/>
          <a:lstStyle/>
          <a:p>
            <a:pPr algn="l" indent="0" marL="0">
              <a:buNone/>
            </a:pPr>
            <a:r>
              <a:rPr lang="en-US" sz="2100" dirty="0">
                <a:solidFill>
                  <a:srgbClr val="0F172B"/>
                </a:solidFill>
                <a:latin typeface="Arial" pitchFamily="34" charset="0"/>
                <a:ea typeface="Arial" pitchFamily="34" charset="-122"/>
                <a:cs typeface="Arial" pitchFamily="34" charset="-120"/>
              </a:rPr>
              <a:t>Statement of the problem</a:t>
            </a:r>
            <a:endParaRPr lang="en-US" sz="2100" dirty="0"/>
          </a:p>
        </p:txBody>
      </p:sp>
      <p:sp>
        <p:nvSpPr>
          <p:cNvPr id="9" name="Shape 7"/>
          <p:cNvSpPr/>
          <p:nvPr/>
        </p:nvSpPr>
        <p:spPr>
          <a:xfrm>
            <a:off x="685800" y="3392424"/>
            <a:ext cx="457200" cy="457200"/>
          </a:xfrm>
          <a:prstGeom prst="ellipse">
            <a:avLst/>
          </a:prstGeom>
          <a:solidFill>
            <a:srgbClr val="147A4C"/>
          </a:solidFill>
          <a:ln w="12700">
            <a:solidFill>
              <a:srgbClr val="147A4C"/>
            </a:solidFill>
            <a:prstDash val="solid"/>
          </a:ln>
        </p:spPr>
      </p:sp>
      <p:sp>
        <p:nvSpPr>
          <p:cNvPr id="10" name="Text 8"/>
          <p:cNvSpPr/>
          <p:nvPr/>
        </p:nvSpPr>
        <p:spPr>
          <a:xfrm>
            <a:off x="685800" y="339242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1" name="Text 9"/>
          <p:cNvSpPr/>
          <p:nvPr/>
        </p:nvSpPr>
        <p:spPr>
          <a:xfrm>
            <a:off x="1325880" y="3374136"/>
            <a:ext cx="4498848" cy="502920"/>
          </a:xfrm>
          <a:prstGeom prst="rect">
            <a:avLst/>
          </a:prstGeom>
          <a:noFill/>
          <a:ln/>
        </p:spPr>
        <p:txBody>
          <a:bodyPr wrap="square" lIns="0" tIns="0" rIns="0" bIns="0" rtlCol="0" anchor="ctr"/>
          <a:lstStyle/>
          <a:p>
            <a:pPr algn="l" indent="0" marL="0">
              <a:buNone/>
            </a:pPr>
            <a:r>
              <a:rPr lang="en-US" sz="2100" dirty="0">
                <a:solidFill>
                  <a:srgbClr val="0F172B"/>
                </a:solidFill>
                <a:latin typeface="Arial" pitchFamily="34" charset="0"/>
                <a:ea typeface="Arial" pitchFamily="34" charset="-122"/>
                <a:cs typeface="Arial" pitchFamily="34" charset="-120"/>
              </a:rPr>
              <a:t>Objectives of the project</a:t>
            </a:r>
            <a:endParaRPr lang="en-US" sz="2100" dirty="0"/>
          </a:p>
        </p:txBody>
      </p:sp>
      <p:sp>
        <p:nvSpPr>
          <p:cNvPr id="12" name="Shape 10"/>
          <p:cNvSpPr/>
          <p:nvPr/>
        </p:nvSpPr>
        <p:spPr>
          <a:xfrm>
            <a:off x="685800" y="4325112"/>
            <a:ext cx="457200" cy="457200"/>
          </a:xfrm>
          <a:prstGeom prst="ellipse">
            <a:avLst/>
          </a:prstGeom>
          <a:solidFill>
            <a:srgbClr val="147A4C"/>
          </a:solidFill>
          <a:ln w="12700">
            <a:solidFill>
              <a:srgbClr val="147A4C"/>
            </a:solidFill>
            <a:prstDash val="solid"/>
          </a:ln>
        </p:spPr>
      </p:sp>
      <p:sp>
        <p:nvSpPr>
          <p:cNvPr id="13" name="Text 11"/>
          <p:cNvSpPr/>
          <p:nvPr/>
        </p:nvSpPr>
        <p:spPr>
          <a:xfrm>
            <a:off x="685800"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4" name="Text 12"/>
          <p:cNvSpPr/>
          <p:nvPr/>
        </p:nvSpPr>
        <p:spPr>
          <a:xfrm>
            <a:off x="1325880" y="4306824"/>
            <a:ext cx="4498848" cy="502920"/>
          </a:xfrm>
          <a:prstGeom prst="rect">
            <a:avLst/>
          </a:prstGeom>
          <a:noFill/>
          <a:ln/>
        </p:spPr>
        <p:txBody>
          <a:bodyPr wrap="square" lIns="0" tIns="0" rIns="0" bIns="0" rtlCol="0" anchor="ctr"/>
          <a:lstStyle/>
          <a:p>
            <a:pPr algn="l" indent="0" marL="0">
              <a:buNone/>
            </a:pPr>
            <a:r>
              <a:rPr lang="en-US" sz="2100" dirty="0">
                <a:solidFill>
                  <a:srgbClr val="0F172B"/>
                </a:solidFill>
                <a:latin typeface="Arial" pitchFamily="34" charset="0"/>
                <a:ea typeface="Arial" pitchFamily="34" charset="-122"/>
                <a:cs typeface="Arial" pitchFamily="34" charset="-120"/>
              </a:rPr>
              <a:t>Literature review and comparison</a:t>
            </a:r>
            <a:endParaRPr lang="en-US" sz="2100" dirty="0"/>
          </a:p>
        </p:txBody>
      </p:sp>
      <p:sp>
        <p:nvSpPr>
          <p:cNvPr id="15" name="Shape 13"/>
          <p:cNvSpPr/>
          <p:nvPr/>
        </p:nvSpPr>
        <p:spPr>
          <a:xfrm>
            <a:off x="685800" y="5257800"/>
            <a:ext cx="457200" cy="457200"/>
          </a:xfrm>
          <a:prstGeom prst="ellipse">
            <a:avLst/>
          </a:prstGeom>
          <a:solidFill>
            <a:srgbClr val="147A4C"/>
          </a:solidFill>
          <a:ln w="12700">
            <a:solidFill>
              <a:srgbClr val="147A4C"/>
            </a:solidFill>
            <a:prstDash val="solid"/>
          </a:ln>
        </p:spPr>
      </p:sp>
      <p:sp>
        <p:nvSpPr>
          <p:cNvPr id="16" name="Text 14"/>
          <p:cNvSpPr/>
          <p:nvPr/>
        </p:nvSpPr>
        <p:spPr>
          <a:xfrm>
            <a:off x="685800" y="5257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7" name="Text 15"/>
          <p:cNvSpPr/>
          <p:nvPr/>
        </p:nvSpPr>
        <p:spPr>
          <a:xfrm>
            <a:off x="1325880" y="5239512"/>
            <a:ext cx="4498848" cy="502920"/>
          </a:xfrm>
          <a:prstGeom prst="rect">
            <a:avLst/>
          </a:prstGeom>
          <a:noFill/>
          <a:ln/>
        </p:spPr>
        <p:txBody>
          <a:bodyPr wrap="square" lIns="0" tIns="0" rIns="0" bIns="0" rtlCol="0" anchor="ctr"/>
          <a:lstStyle/>
          <a:p>
            <a:pPr algn="l" indent="0" marL="0">
              <a:buNone/>
            </a:pPr>
            <a:r>
              <a:rPr lang="en-US" sz="2100" dirty="0">
                <a:solidFill>
                  <a:srgbClr val="0F172B"/>
                </a:solidFill>
                <a:latin typeface="Arial" pitchFamily="34" charset="0"/>
                <a:ea typeface="Arial" pitchFamily="34" charset="-122"/>
                <a:cs typeface="Arial" pitchFamily="34" charset="-120"/>
              </a:rPr>
              <a:t>Methodology and tools</a:t>
            </a:r>
            <a:endParaRPr lang="en-US" sz="2100" dirty="0"/>
          </a:p>
        </p:txBody>
      </p:sp>
      <p:sp>
        <p:nvSpPr>
          <p:cNvPr id="18" name="Shape 16"/>
          <p:cNvSpPr/>
          <p:nvPr/>
        </p:nvSpPr>
        <p:spPr>
          <a:xfrm>
            <a:off x="6364224" y="1527048"/>
            <a:ext cx="457200" cy="457200"/>
          </a:xfrm>
          <a:prstGeom prst="ellipse">
            <a:avLst/>
          </a:prstGeom>
          <a:solidFill>
            <a:srgbClr val="147A4C"/>
          </a:solidFill>
          <a:ln w="12700">
            <a:solidFill>
              <a:srgbClr val="147A4C"/>
            </a:solidFill>
            <a:prstDash val="solid"/>
          </a:ln>
        </p:spPr>
      </p:sp>
      <p:sp>
        <p:nvSpPr>
          <p:cNvPr id="19" name="Text 17"/>
          <p:cNvSpPr/>
          <p:nvPr/>
        </p:nvSpPr>
        <p:spPr>
          <a:xfrm>
            <a:off x="6364224" y="1527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0" name="Text 18"/>
          <p:cNvSpPr/>
          <p:nvPr/>
        </p:nvSpPr>
        <p:spPr>
          <a:xfrm>
            <a:off x="7013448" y="1508760"/>
            <a:ext cx="4498848" cy="502920"/>
          </a:xfrm>
          <a:prstGeom prst="rect">
            <a:avLst/>
          </a:prstGeom>
          <a:noFill/>
          <a:ln/>
        </p:spPr>
        <p:txBody>
          <a:bodyPr wrap="square" lIns="0" tIns="0" rIns="0" bIns="0" rtlCol="0" anchor="ctr"/>
          <a:lstStyle/>
          <a:p>
            <a:pPr algn="l" indent="0" marL="0">
              <a:buNone/>
            </a:pPr>
            <a:r>
              <a:rPr lang="en-US" sz="2100" dirty="0">
                <a:solidFill>
                  <a:srgbClr val="0F172B"/>
                </a:solidFill>
                <a:latin typeface="Arial" pitchFamily="34" charset="0"/>
                <a:ea typeface="Arial" pitchFamily="34" charset="-122"/>
                <a:cs typeface="Arial" pitchFamily="34" charset="-120"/>
              </a:rPr>
              <a:t>How the system was tested</a:t>
            </a:r>
            <a:endParaRPr lang="en-US" sz="2100" dirty="0"/>
          </a:p>
        </p:txBody>
      </p:sp>
      <p:sp>
        <p:nvSpPr>
          <p:cNvPr id="21" name="Shape 19"/>
          <p:cNvSpPr/>
          <p:nvPr/>
        </p:nvSpPr>
        <p:spPr>
          <a:xfrm>
            <a:off x="6364224" y="2459736"/>
            <a:ext cx="457200" cy="457200"/>
          </a:xfrm>
          <a:prstGeom prst="ellipse">
            <a:avLst/>
          </a:prstGeom>
          <a:solidFill>
            <a:srgbClr val="147A4C"/>
          </a:solidFill>
          <a:ln w="12700">
            <a:solidFill>
              <a:srgbClr val="147A4C"/>
            </a:solidFill>
            <a:prstDash val="solid"/>
          </a:ln>
        </p:spPr>
      </p:sp>
      <p:sp>
        <p:nvSpPr>
          <p:cNvPr id="22" name="Text 20"/>
          <p:cNvSpPr/>
          <p:nvPr/>
        </p:nvSpPr>
        <p:spPr>
          <a:xfrm>
            <a:off x="6364224" y="24597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23" name="Text 21"/>
          <p:cNvSpPr/>
          <p:nvPr/>
        </p:nvSpPr>
        <p:spPr>
          <a:xfrm>
            <a:off x="7013448" y="2441448"/>
            <a:ext cx="4498848" cy="502920"/>
          </a:xfrm>
          <a:prstGeom prst="rect">
            <a:avLst/>
          </a:prstGeom>
          <a:noFill/>
          <a:ln/>
        </p:spPr>
        <p:txBody>
          <a:bodyPr wrap="square" lIns="0" tIns="0" rIns="0" bIns="0" rtlCol="0" anchor="ctr"/>
          <a:lstStyle/>
          <a:p>
            <a:pPr algn="l" indent="0" marL="0">
              <a:buNone/>
            </a:pPr>
            <a:r>
              <a:rPr lang="en-US" sz="2100" dirty="0">
                <a:solidFill>
                  <a:srgbClr val="0F172B"/>
                </a:solidFill>
                <a:latin typeface="Arial" pitchFamily="34" charset="0"/>
                <a:ea typeface="Arial" pitchFamily="34" charset="-122"/>
                <a:cs typeface="Arial" pitchFamily="34" charset="-120"/>
              </a:rPr>
              <a:t>Use case diagram and requirements</a:t>
            </a:r>
            <a:endParaRPr lang="en-US" sz="2100" dirty="0"/>
          </a:p>
        </p:txBody>
      </p:sp>
      <p:sp>
        <p:nvSpPr>
          <p:cNvPr id="24" name="Shape 22"/>
          <p:cNvSpPr/>
          <p:nvPr/>
        </p:nvSpPr>
        <p:spPr>
          <a:xfrm>
            <a:off x="6364224" y="3392424"/>
            <a:ext cx="457200" cy="457200"/>
          </a:xfrm>
          <a:prstGeom prst="ellipse">
            <a:avLst/>
          </a:prstGeom>
          <a:solidFill>
            <a:srgbClr val="147A4C"/>
          </a:solidFill>
          <a:ln w="12700">
            <a:solidFill>
              <a:srgbClr val="147A4C"/>
            </a:solidFill>
            <a:prstDash val="solid"/>
          </a:ln>
        </p:spPr>
      </p:sp>
      <p:sp>
        <p:nvSpPr>
          <p:cNvPr id="25" name="Text 23"/>
          <p:cNvSpPr/>
          <p:nvPr/>
        </p:nvSpPr>
        <p:spPr>
          <a:xfrm>
            <a:off x="6364224" y="339242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a:t>
            </a:r>
            <a:endParaRPr lang="en-US" sz="1600" dirty="0"/>
          </a:p>
        </p:txBody>
      </p:sp>
      <p:sp>
        <p:nvSpPr>
          <p:cNvPr id="26" name="Text 24"/>
          <p:cNvSpPr/>
          <p:nvPr/>
        </p:nvSpPr>
        <p:spPr>
          <a:xfrm>
            <a:off x="7013448" y="3374136"/>
            <a:ext cx="4498848" cy="502920"/>
          </a:xfrm>
          <a:prstGeom prst="rect">
            <a:avLst/>
          </a:prstGeom>
          <a:noFill/>
          <a:ln/>
        </p:spPr>
        <p:txBody>
          <a:bodyPr wrap="square" lIns="0" tIns="0" rIns="0" bIns="0" rtlCol="0" anchor="ctr"/>
          <a:lstStyle/>
          <a:p>
            <a:pPr algn="l" indent="0" marL="0">
              <a:buNone/>
            </a:pPr>
            <a:r>
              <a:rPr lang="en-US" sz="2100" dirty="0">
                <a:solidFill>
                  <a:srgbClr val="0F172B"/>
                </a:solidFill>
                <a:latin typeface="Arial" pitchFamily="34" charset="0"/>
                <a:ea typeface="Arial" pitchFamily="34" charset="-122"/>
                <a:cs typeface="Arial" pitchFamily="34" charset="-120"/>
              </a:rPr>
              <a:t>Flow charts and architecture</a:t>
            </a:r>
            <a:endParaRPr lang="en-US" sz="2100" dirty="0"/>
          </a:p>
        </p:txBody>
      </p:sp>
      <p:sp>
        <p:nvSpPr>
          <p:cNvPr id="27" name="Shape 25"/>
          <p:cNvSpPr/>
          <p:nvPr/>
        </p:nvSpPr>
        <p:spPr>
          <a:xfrm>
            <a:off x="6364224" y="4325112"/>
            <a:ext cx="457200" cy="457200"/>
          </a:xfrm>
          <a:prstGeom prst="ellipse">
            <a:avLst/>
          </a:prstGeom>
          <a:solidFill>
            <a:srgbClr val="147A4C"/>
          </a:solidFill>
          <a:ln w="12700">
            <a:solidFill>
              <a:srgbClr val="147A4C"/>
            </a:solidFill>
            <a:prstDash val="solid"/>
          </a:ln>
        </p:spPr>
      </p:sp>
      <p:sp>
        <p:nvSpPr>
          <p:cNvPr id="28" name="Text 26"/>
          <p:cNvSpPr/>
          <p:nvPr/>
        </p:nvSpPr>
        <p:spPr>
          <a:xfrm>
            <a:off x="6364224"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9</a:t>
            </a:r>
            <a:endParaRPr lang="en-US" sz="1600" dirty="0"/>
          </a:p>
        </p:txBody>
      </p:sp>
      <p:sp>
        <p:nvSpPr>
          <p:cNvPr id="29" name="Text 27"/>
          <p:cNvSpPr/>
          <p:nvPr/>
        </p:nvSpPr>
        <p:spPr>
          <a:xfrm>
            <a:off x="7013448" y="4306824"/>
            <a:ext cx="4498848" cy="502920"/>
          </a:xfrm>
          <a:prstGeom prst="rect">
            <a:avLst/>
          </a:prstGeom>
          <a:noFill/>
          <a:ln/>
        </p:spPr>
        <p:txBody>
          <a:bodyPr wrap="square" lIns="0" tIns="0" rIns="0" bIns="0" rtlCol="0" anchor="ctr"/>
          <a:lstStyle/>
          <a:p>
            <a:pPr algn="l" indent="0" marL="0">
              <a:buNone/>
            </a:pPr>
            <a:r>
              <a:rPr lang="en-US" sz="2100" dirty="0">
                <a:solidFill>
                  <a:srgbClr val="0F172B"/>
                </a:solidFill>
                <a:latin typeface="Arial" pitchFamily="34" charset="0"/>
                <a:ea typeface="Arial" pitchFamily="34" charset="-122"/>
                <a:cs typeface="Arial" pitchFamily="34" charset="-120"/>
              </a:rPr>
              <a:t>The application in use</a:t>
            </a:r>
            <a:endParaRPr lang="en-US" sz="2100" dirty="0"/>
          </a:p>
        </p:txBody>
      </p:sp>
      <p:sp>
        <p:nvSpPr>
          <p:cNvPr id="30" name="Shape 28"/>
          <p:cNvSpPr/>
          <p:nvPr/>
        </p:nvSpPr>
        <p:spPr>
          <a:xfrm>
            <a:off x="6364224" y="5257800"/>
            <a:ext cx="457200" cy="457200"/>
          </a:xfrm>
          <a:prstGeom prst="ellipse">
            <a:avLst/>
          </a:prstGeom>
          <a:solidFill>
            <a:srgbClr val="147A4C"/>
          </a:solidFill>
          <a:ln w="12700">
            <a:solidFill>
              <a:srgbClr val="147A4C"/>
            </a:solidFill>
            <a:prstDash val="solid"/>
          </a:ln>
        </p:spPr>
      </p:sp>
      <p:sp>
        <p:nvSpPr>
          <p:cNvPr id="31" name="Text 29"/>
          <p:cNvSpPr/>
          <p:nvPr/>
        </p:nvSpPr>
        <p:spPr>
          <a:xfrm>
            <a:off x="6364224" y="5257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10</a:t>
            </a:r>
            <a:endParaRPr lang="en-US" sz="1600" dirty="0"/>
          </a:p>
        </p:txBody>
      </p:sp>
      <p:sp>
        <p:nvSpPr>
          <p:cNvPr id="32" name="Text 30"/>
          <p:cNvSpPr/>
          <p:nvPr/>
        </p:nvSpPr>
        <p:spPr>
          <a:xfrm>
            <a:off x="7013448" y="5239512"/>
            <a:ext cx="4498848" cy="502920"/>
          </a:xfrm>
          <a:prstGeom prst="rect">
            <a:avLst/>
          </a:prstGeom>
          <a:noFill/>
          <a:ln/>
        </p:spPr>
        <p:txBody>
          <a:bodyPr wrap="square" lIns="0" tIns="0" rIns="0" bIns="0" rtlCol="0" anchor="ctr"/>
          <a:lstStyle/>
          <a:p>
            <a:pPr algn="l" indent="0" marL="0">
              <a:buNone/>
            </a:pPr>
            <a:r>
              <a:rPr lang="en-US" sz="2100" dirty="0">
                <a:solidFill>
                  <a:srgbClr val="0F172B"/>
                </a:solidFill>
                <a:latin typeface="Arial" pitchFamily="34" charset="0"/>
                <a:ea typeface="Arial" pitchFamily="34" charset="-122"/>
                <a:cs typeface="Arial" pitchFamily="34" charset="-120"/>
              </a:rPr>
              <a:t>Test results and conclusion</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Introduction</a:t>
            </a:r>
            <a:endParaRPr lang="en-US" sz="3200" dirty="0"/>
          </a:p>
        </p:txBody>
      </p:sp>
      <p:sp>
        <p:nvSpPr>
          <p:cNvPr id="4" name="Text 2"/>
          <p:cNvSpPr/>
          <p:nvPr/>
        </p:nvSpPr>
        <p:spPr>
          <a:xfrm>
            <a:off x="685800" y="1691640"/>
            <a:ext cx="10817352" cy="4572000"/>
          </a:xfrm>
          <a:prstGeom prst="rect">
            <a:avLst/>
          </a:prstGeom>
          <a:noFill/>
          <a:ln/>
        </p:spPr>
        <p:txBody>
          <a:bodyPr wrap="square" lIns="0" tIns="0" rIns="0" bIns="0" rtlCol="0" anchor="t"/>
          <a:lstStyle/>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EAPMS is a web system in which biometric attendance and human resource permission records are joined into one attendance record that can be trusted.</a:t>
            </a:r>
            <a:endParaRPr lang="en-US" sz="2200" dirty="0"/>
          </a:p>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It was built for the Institute of Finance Management, where terminals record who signed in while the HR office separately approves leave, sick leave, permission and field duty.</a:t>
            </a:r>
            <a:endParaRPr lang="en-US" sz="2200" dirty="0"/>
          </a:p>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When a permission is approved the system corrects the affected records automatically, and machine learning is then applied to the corrected data.</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Background to the Project</a:t>
            </a:r>
            <a:endParaRPr lang="en-US" sz="3200" dirty="0"/>
          </a:p>
        </p:txBody>
      </p:sp>
      <p:sp>
        <p:nvSpPr>
          <p:cNvPr id="4" name="Text 2"/>
          <p:cNvSpPr/>
          <p:nvPr/>
        </p:nvSpPr>
        <p:spPr>
          <a:xfrm>
            <a:off x="685800" y="1691640"/>
            <a:ext cx="10817352" cy="4572000"/>
          </a:xfrm>
          <a:prstGeom prst="rect">
            <a:avLst/>
          </a:prstGeom>
          <a:noFill/>
          <a:ln/>
        </p:spPr>
        <p:txBody>
          <a:bodyPr wrap="square" lIns="0" tIns="0" rIns="0" bIns="0" rtlCol="0" anchor="t"/>
          <a:lstStyle/>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Attendance decides payroll, supervision and staffing, which is why institutions have replaced signature registers with biometric terminals.</a:t>
            </a:r>
            <a:endParaRPr lang="en-US" sz="2200" dirty="0"/>
          </a:p>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A terminal records where a person physically was. The HR file explains why a person was authorised to be elsewhere. The two are never brought together.</a:t>
            </a:r>
            <a:endParaRPr lang="en-US" sz="2200" dirty="0"/>
          </a:p>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The monthly report is therefore produced from device data alone, because that is the only data available in machine-readable form when the report is generated.</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Statement of the Problem</a:t>
            </a:r>
            <a:endParaRPr lang="en-US" sz="3200" dirty="0"/>
          </a:p>
        </p:txBody>
      </p:sp>
      <p:sp>
        <p:nvSpPr>
          <p:cNvPr id="4" name="Text 2"/>
          <p:cNvSpPr/>
          <p:nvPr/>
        </p:nvSpPr>
        <p:spPr>
          <a:xfrm>
            <a:off x="685800" y="1691640"/>
            <a:ext cx="10817352" cy="3840480"/>
          </a:xfrm>
          <a:prstGeom prst="rect">
            <a:avLst/>
          </a:prstGeom>
          <a:noFill/>
          <a:ln/>
        </p:spPr>
        <p:txBody>
          <a:bodyPr wrap="square" lIns="0" tIns="0" rIns="0" bIns="0" rtlCol="0" anchor="t"/>
          <a:lstStyle/>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An employee whose absence has been formally approved is still recorded as Absent, or produces no record at all. The approval is signed and filed, but the reporting process cannot see it.</a:t>
            </a:r>
            <a:endParaRPr lang="en-US" sz="2200" dirty="0"/>
          </a:p>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Fingerprint attendance systems concentrate on capture and treat attendance as present or absent, so authorised absence is never modelled (Obansola et al., 2016).</a:t>
            </a:r>
            <a:endParaRPr lang="en-US" sz="2200" dirty="0"/>
          </a:p>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This matches what a biometric record actually asserts: an enrolled finger was presented at a terminal at a given time. It says nothing about authorisation (Jain, Ross and Prabhakar, 2004).</a:t>
            </a:r>
            <a:endParaRPr lang="en-US" sz="2200" dirty="0"/>
          </a:p>
        </p:txBody>
      </p:sp>
      <p:sp>
        <p:nvSpPr>
          <p:cNvPr id="5" name="Text 3"/>
          <p:cNvSpPr/>
          <p:nvPr/>
        </p:nvSpPr>
        <p:spPr>
          <a:xfrm>
            <a:off x="914400" y="5669280"/>
            <a:ext cx="10360152" cy="685800"/>
          </a:xfrm>
          <a:prstGeom prst="rect">
            <a:avLst/>
          </a:prstGeom>
          <a:noFill/>
          <a:ln/>
        </p:spPr>
        <p:txBody>
          <a:bodyPr wrap="square" lIns="0" tIns="0" rIns="0" bIns="0" rtlCol="0" anchor="t"/>
          <a:lstStyle/>
          <a:p>
            <a:pPr algn="l" indent="0" marL="0">
              <a:lnSpc>
                <a:spcPct val="110000"/>
              </a:lnSpc>
              <a:buNone/>
            </a:pPr>
            <a:r>
              <a:rPr lang="en-US" sz="1500" dirty="0">
                <a:solidFill>
                  <a:srgbClr val="64748B"/>
                </a:solidFill>
                <a:latin typeface="Arial" pitchFamily="34" charset="0"/>
                <a:ea typeface="Arial" pitchFamily="34" charset="-122"/>
                <a:cs typeface="Arial" pitchFamily="34" charset="-120"/>
              </a:rPr>
              <a:t>Jain, A.K., Ross, A. and Prabhakar, S. (2004) ‘An introduction to biometric recognition’, IEEE Transactions on Circuits and Systems for Video Technology, 14(1), pp. 4–20.</a:t>
            </a:r>
            <a:endParaRPr lang="en-US" sz="1500" dirty="0"/>
          </a:p>
          <a:p>
            <a:pPr algn="l" indent="0" marL="0">
              <a:lnSpc>
                <a:spcPct val="110000"/>
              </a:lnSpc>
              <a:buNone/>
            </a:pPr>
            <a:r>
              <a:rPr lang="en-US" sz="1500" dirty="0">
                <a:solidFill>
                  <a:srgbClr val="64748B"/>
                </a:solidFill>
                <a:latin typeface="Arial" pitchFamily="34" charset="0"/>
                <a:ea typeface="Arial" pitchFamily="34" charset="-122"/>
                <a:cs typeface="Arial" pitchFamily="34" charset="-120"/>
              </a:rPr>
              <a:t>Obansola, O.Y. et al. (2016) ‘Development of staff attendance management system using fingerprint biometric identification technique’, Greener Journal of Science, Engineering and Technological Research, 6(3), pp. 55–69.</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Issues the Project Addresses</a:t>
            </a:r>
            <a:endParaRPr lang="en-US" sz="3200" dirty="0"/>
          </a:p>
        </p:txBody>
      </p:sp>
      <p:sp>
        <p:nvSpPr>
          <p:cNvPr id="4" name="Shape 2"/>
          <p:cNvSpPr/>
          <p:nvPr/>
        </p:nvSpPr>
        <p:spPr>
          <a:xfrm>
            <a:off x="905256" y="1901952"/>
            <a:ext cx="146304" cy="146304"/>
          </a:xfrm>
          <a:prstGeom prst="rect">
            <a:avLst/>
          </a:prstGeom>
          <a:solidFill>
            <a:srgbClr val="147A4C"/>
          </a:solidFill>
          <a:ln w="12700">
            <a:solidFill>
              <a:srgbClr val="147A4C"/>
            </a:solidFill>
            <a:prstDash val="solid"/>
          </a:ln>
        </p:spPr>
      </p:sp>
      <p:sp>
        <p:nvSpPr>
          <p:cNvPr id="5" name="Text 3"/>
          <p:cNvSpPr/>
          <p:nvPr/>
        </p:nvSpPr>
        <p:spPr>
          <a:xfrm>
            <a:off x="1252728" y="1783080"/>
            <a:ext cx="10067544" cy="7772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The report is wrong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An approved absence is reported as an unauthorised one, and every month someone in HR has to correct it by hand against the leave file.</a:t>
            </a:r>
            <a:endParaRPr lang="en-US" sz="2000" dirty="0"/>
          </a:p>
        </p:txBody>
      </p:sp>
      <p:sp>
        <p:nvSpPr>
          <p:cNvPr id="6" name="Shape 4"/>
          <p:cNvSpPr/>
          <p:nvPr/>
        </p:nvSpPr>
        <p:spPr>
          <a:xfrm>
            <a:off x="905256" y="3044952"/>
            <a:ext cx="146304" cy="146304"/>
          </a:xfrm>
          <a:prstGeom prst="rect">
            <a:avLst/>
          </a:prstGeom>
          <a:solidFill>
            <a:srgbClr val="147A4C"/>
          </a:solidFill>
          <a:ln w="12700">
            <a:solidFill>
              <a:srgbClr val="147A4C"/>
            </a:solidFill>
            <a:prstDash val="solid"/>
          </a:ln>
        </p:spPr>
      </p:sp>
      <p:sp>
        <p:nvSpPr>
          <p:cNvPr id="7" name="Text 5"/>
          <p:cNvSpPr/>
          <p:nvPr/>
        </p:nvSpPr>
        <p:spPr>
          <a:xfrm>
            <a:off x="1252728" y="2926080"/>
            <a:ext cx="10067544" cy="7772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The employee carries the cost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A member of staff can face queries or disciplinary attention over a day the institution itself authorised.</a:t>
            </a:r>
            <a:endParaRPr lang="en-US" sz="2000" dirty="0"/>
          </a:p>
        </p:txBody>
      </p:sp>
      <p:sp>
        <p:nvSpPr>
          <p:cNvPr id="8" name="Shape 6"/>
          <p:cNvSpPr/>
          <p:nvPr/>
        </p:nvSpPr>
        <p:spPr>
          <a:xfrm>
            <a:off x="905256" y="4187952"/>
            <a:ext cx="146304" cy="146304"/>
          </a:xfrm>
          <a:prstGeom prst="rect">
            <a:avLst/>
          </a:prstGeom>
          <a:solidFill>
            <a:srgbClr val="147A4C"/>
          </a:solidFill>
          <a:ln w="12700">
            <a:solidFill>
              <a:srgbClr val="147A4C"/>
            </a:solidFill>
            <a:prstDash val="solid"/>
          </a:ln>
        </p:spPr>
      </p:sp>
      <p:sp>
        <p:nvSpPr>
          <p:cNvPr id="9" name="Text 7"/>
          <p:cNvSpPr/>
          <p:nvPr/>
        </p:nvSpPr>
        <p:spPr>
          <a:xfrm>
            <a:off x="1252728" y="4069080"/>
            <a:ext cx="10067544" cy="7772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The error spreads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Absenteeism rates, departmental comparisons and any model built on the data inherit a dataset that systematically over-reports absence.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Objectives of the Project</a:t>
            </a:r>
            <a:endParaRPr lang="en-US" sz="3200" dirty="0"/>
          </a:p>
        </p:txBody>
      </p:sp>
      <p:sp>
        <p:nvSpPr>
          <p:cNvPr id="4" name="Shape 2"/>
          <p:cNvSpPr/>
          <p:nvPr/>
        </p:nvSpPr>
        <p:spPr>
          <a:xfrm>
            <a:off x="685800" y="1572768"/>
            <a:ext cx="10817352" cy="1444752"/>
          </a:xfrm>
          <a:prstGeom prst="rect">
            <a:avLst/>
          </a:prstGeom>
          <a:solidFill>
            <a:srgbClr val="EAF6EF"/>
          </a:solidFill>
          <a:ln w="6350">
            <a:solidFill>
              <a:srgbClr val="EAF6EF"/>
            </a:solidFill>
            <a:prstDash val="solid"/>
          </a:ln>
        </p:spPr>
      </p:sp>
      <p:sp>
        <p:nvSpPr>
          <p:cNvPr id="5" name="Text 3"/>
          <p:cNvSpPr/>
          <p:nvPr/>
        </p:nvSpPr>
        <p:spPr>
          <a:xfrm>
            <a:off x="960120" y="1664208"/>
            <a:ext cx="10241280" cy="292608"/>
          </a:xfrm>
          <a:prstGeom prst="rect">
            <a:avLst/>
          </a:prstGeom>
          <a:noFill/>
          <a:ln/>
        </p:spPr>
        <p:txBody>
          <a:bodyPr wrap="square" lIns="0" tIns="0" rIns="0" bIns="0" rtlCol="0" anchor="ctr"/>
          <a:lstStyle/>
          <a:p>
            <a:pPr algn="l" indent="0" marL="0">
              <a:buNone/>
            </a:pPr>
            <a:r>
              <a:rPr lang="en-US" sz="1400" b="1" spc="100" kern="0" dirty="0">
                <a:solidFill>
                  <a:srgbClr val="147A4C"/>
                </a:solidFill>
                <a:latin typeface="Arial" pitchFamily="34" charset="0"/>
                <a:ea typeface="Arial" pitchFamily="34" charset="-122"/>
                <a:cs typeface="Arial" pitchFamily="34" charset="-120"/>
              </a:rPr>
              <a:t>MAIN OBJECTIVE</a:t>
            </a:r>
            <a:endParaRPr lang="en-US" sz="1400" dirty="0"/>
          </a:p>
        </p:txBody>
      </p:sp>
      <p:sp>
        <p:nvSpPr>
          <p:cNvPr id="6" name="Text 4"/>
          <p:cNvSpPr/>
          <p:nvPr/>
        </p:nvSpPr>
        <p:spPr>
          <a:xfrm>
            <a:off x="960120" y="1975104"/>
            <a:ext cx="10241280" cy="960120"/>
          </a:xfrm>
          <a:prstGeom prst="rect">
            <a:avLst/>
          </a:prstGeom>
          <a:noFill/>
          <a:ln/>
        </p:spPr>
        <p:txBody>
          <a:bodyPr wrap="square" lIns="0" tIns="0" rIns="0" bIns="0" rtlCol="0" anchor="t"/>
          <a:lstStyle/>
          <a:p>
            <a:pPr algn="l" indent="0" marL="0">
              <a:lnSpc>
                <a:spcPct val="112000"/>
              </a:lnSpc>
              <a:buNone/>
            </a:pPr>
            <a:r>
              <a:rPr lang="en-US" sz="1900" dirty="0">
                <a:solidFill>
                  <a:srgbClr val="0F172B"/>
                </a:solidFill>
                <a:latin typeface="Arial" pitchFamily="34" charset="0"/>
                <a:ea typeface="Arial" pitchFamily="34" charset="-122"/>
                <a:cs typeface="Arial" pitchFamily="34" charset="-120"/>
              </a:rPr>
              <a:t>To design, develop and evaluate an AI-enhanced attendance and permission management system that synchronises biometric attendance with HR permission and leave management, and applies machine learning to the corrected data.</a:t>
            </a:r>
            <a:endParaRPr lang="en-US" sz="1900" dirty="0"/>
          </a:p>
        </p:txBody>
      </p:sp>
      <p:sp>
        <p:nvSpPr>
          <p:cNvPr id="7" name="Text 5"/>
          <p:cNvSpPr/>
          <p:nvPr/>
        </p:nvSpPr>
        <p:spPr>
          <a:xfrm>
            <a:off x="905256" y="3163824"/>
            <a:ext cx="10241280" cy="292608"/>
          </a:xfrm>
          <a:prstGeom prst="rect">
            <a:avLst/>
          </a:prstGeom>
          <a:noFill/>
          <a:ln/>
        </p:spPr>
        <p:txBody>
          <a:bodyPr wrap="square" lIns="0" tIns="0" rIns="0" bIns="0" rtlCol="0" anchor="ctr"/>
          <a:lstStyle/>
          <a:p>
            <a:pPr algn="l" indent="0" marL="0">
              <a:buNone/>
            </a:pPr>
            <a:r>
              <a:rPr lang="en-US" sz="1400" b="1" spc="100" kern="0" dirty="0">
                <a:solidFill>
                  <a:srgbClr val="64748B"/>
                </a:solidFill>
                <a:latin typeface="Arial" pitchFamily="34" charset="0"/>
                <a:ea typeface="Arial" pitchFamily="34" charset="-122"/>
                <a:cs typeface="Arial" pitchFamily="34" charset="-120"/>
              </a:rPr>
              <a:t>SPECIFIC OBJECTIVES</a:t>
            </a:r>
            <a:endParaRPr lang="en-US" sz="1400" dirty="0"/>
          </a:p>
        </p:txBody>
      </p:sp>
      <p:sp>
        <p:nvSpPr>
          <p:cNvPr id="8" name="Shape 6"/>
          <p:cNvSpPr/>
          <p:nvPr/>
        </p:nvSpPr>
        <p:spPr>
          <a:xfrm>
            <a:off x="905256" y="3703320"/>
            <a:ext cx="146304" cy="146304"/>
          </a:xfrm>
          <a:prstGeom prst="rect">
            <a:avLst/>
          </a:prstGeom>
          <a:solidFill>
            <a:srgbClr val="147A4C"/>
          </a:solidFill>
          <a:ln w="12700">
            <a:solidFill>
              <a:srgbClr val="147A4C"/>
            </a:solidFill>
            <a:prstDash val="solid"/>
          </a:ln>
        </p:spPr>
      </p:sp>
      <p:sp>
        <p:nvSpPr>
          <p:cNvPr id="9" name="Text 7"/>
          <p:cNvSpPr/>
          <p:nvPr/>
        </p:nvSpPr>
        <p:spPr>
          <a:xfrm>
            <a:off x="1252728" y="3584448"/>
            <a:ext cx="10067544" cy="7772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Capture without vendor lock-in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Retrieve sign-in and sign-out events from biometric terminals through one interface that does not depend on a single device vendor.</a:t>
            </a:r>
            <a:endParaRPr lang="en-US" sz="2000" dirty="0"/>
          </a:p>
        </p:txBody>
      </p:sp>
      <p:sp>
        <p:nvSpPr>
          <p:cNvPr id="10" name="Shape 8"/>
          <p:cNvSpPr/>
          <p:nvPr/>
        </p:nvSpPr>
        <p:spPr>
          <a:xfrm>
            <a:off x="905256" y="4636008"/>
            <a:ext cx="146304" cy="146304"/>
          </a:xfrm>
          <a:prstGeom prst="rect">
            <a:avLst/>
          </a:prstGeom>
          <a:solidFill>
            <a:srgbClr val="147A4C"/>
          </a:solidFill>
          <a:ln w="12700">
            <a:solidFill>
              <a:srgbClr val="147A4C"/>
            </a:solidFill>
            <a:prstDash val="solid"/>
          </a:ln>
        </p:spPr>
      </p:sp>
      <p:sp>
        <p:nvSpPr>
          <p:cNvPr id="11" name="Text 9"/>
          <p:cNvSpPr/>
          <p:nvPr/>
        </p:nvSpPr>
        <p:spPr>
          <a:xfrm>
            <a:off x="1252728" y="4517136"/>
            <a:ext cx="10067544" cy="7772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Integrate attendance with permissions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Join the captured attendance data to an electronic HR permission and leave workflow.</a:t>
            </a:r>
            <a:endParaRPr lang="en-US" sz="2000" dirty="0"/>
          </a:p>
        </p:txBody>
      </p:sp>
      <p:sp>
        <p:nvSpPr>
          <p:cNvPr id="12" name="Shape 10"/>
          <p:cNvSpPr/>
          <p:nvPr/>
        </p:nvSpPr>
        <p:spPr>
          <a:xfrm>
            <a:off x="905256" y="5568696"/>
            <a:ext cx="146304" cy="146304"/>
          </a:xfrm>
          <a:prstGeom prst="rect">
            <a:avLst/>
          </a:prstGeom>
          <a:solidFill>
            <a:srgbClr val="147A4C"/>
          </a:solidFill>
          <a:ln w="12700">
            <a:solidFill>
              <a:srgbClr val="147A4C"/>
            </a:solidFill>
            <a:prstDash val="solid"/>
          </a:ln>
        </p:spPr>
      </p:sp>
      <p:sp>
        <p:nvSpPr>
          <p:cNvPr id="13" name="Text 11"/>
          <p:cNvSpPr/>
          <p:nvPr/>
        </p:nvSpPr>
        <p:spPr>
          <a:xfrm>
            <a:off x="1252728" y="5449824"/>
            <a:ext cx="10067544" cy="7772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Correct the record on approval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Update every affected attendance record automatically when a request is approved, including for dates already past.</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Objectives of the Project (continued)</a:t>
            </a:r>
            <a:endParaRPr lang="en-US" sz="3200" dirty="0"/>
          </a:p>
        </p:txBody>
      </p:sp>
      <p:sp>
        <p:nvSpPr>
          <p:cNvPr id="4" name="Text 2"/>
          <p:cNvSpPr/>
          <p:nvPr/>
        </p:nvSpPr>
        <p:spPr>
          <a:xfrm>
            <a:off x="1133856" y="1005840"/>
            <a:ext cx="10369296" cy="329184"/>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Specific objectives four to six</a:t>
            </a:r>
            <a:endParaRPr lang="en-US" sz="1600" dirty="0"/>
          </a:p>
        </p:txBody>
      </p:sp>
      <p:sp>
        <p:nvSpPr>
          <p:cNvPr id="5" name="Shape 3"/>
          <p:cNvSpPr/>
          <p:nvPr/>
        </p:nvSpPr>
        <p:spPr>
          <a:xfrm>
            <a:off x="905256" y="1993392"/>
            <a:ext cx="146304" cy="146304"/>
          </a:xfrm>
          <a:prstGeom prst="rect">
            <a:avLst/>
          </a:prstGeom>
          <a:solidFill>
            <a:srgbClr val="147A4C"/>
          </a:solidFill>
          <a:ln w="12700">
            <a:solidFill>
              <a:srgbClr val="147A4C"/>
            </a:solidFill>
            <a:prstDash val="solid"/>
          </a:ln>
        </p:spPr>
      </p:sp>
      <p:sp>
        <p:nvSpPr>
          <p:cNvPr id="6" name="Text 4"/>
          <p:cNvSpPr/>
          <p:nvPr/>
        </p:nvSpPr>
        <p:spPr>
          <a:xfrm>
            <a:off x="1252728" y="1874520"/>
            <a:ext cx="10067544" cy="7772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Apply artificial intelligence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Analyse the corrected attendance for anomalies and predict absenteeism risk using models that can explain their own output.</a:t>
            </a:r>
            <a:endParaRPr lang="en-US" sz="2000" dirty="0"/>
          </a:p>
        </p:txBody>
      </p:sp>
      <p:sp>
        <p:nvSpPr>
          <p:cNvPr id="7" name="Shape 5"/>
          <p:cNvSpPr/>
          <p:nvPr/>
        </p:nvSpPr>
        <p:spPr>
          <a:xfrm>
            <a:off x="905256" y="3136392"/>
            <a:ext cx="146304" cy="146304"/>
          </a:xfrm>
          <a:prstGeom prst="rect">
            <a:avLst/>
          </a:prstGeom>
          <a:solidFill>
            <a:srgbClr val="147A4C"/>
          </a:solidFill>
          <a:ln w="12700">
            <a:solidFill>
              <a:srgbClr val="147A4C"/>
            </a:solidFill>
            <a:prstDash val="solid"/>
          </a:ln>
        </p:spPr>
      </p:sp>
      <p:sp>
        <p:nvSpPr>
          <p:cNvPr id="8" name="Text 6"/>
          <p:cNvSpPr/>
          <p:nvPr/>
        </p:nvSpPr>
        <p:spPr>
          <a:xfrm>
            <a:off x="1252728" y="3017520"/>
            <a:ext cx="10067544" cy="7772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Deliver the result to the right person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Provide notifications and role-based reporting so that the information reaches the officer who can act on it.</a:t>
            </a:r>
            <a:endParaRPr lang="en-US" sz="2000" dirty="0"/>
          </a:p>
        </p:txBody>
      </p:sp>
      <p:sp>
        <p:nvSpPr>
          <p:cNvPr id="9" name="Shape 7"/>
          <p:cNvSpPr/>
          <p:nvPr/>
        </p:nvSpPr>
        <p:spPr>
          <a:xfrm>
            <a:off x="905256" y="4279392"/>
            <a:ext cx="146304" cy="146304"/>
          </a:xfrm>
          <a:prstGeom prst="rect">
            <a:avLst/>
          </a:prstGeom>
          <a:solidFill>
            <a:srgbClr val="147A4C"/>
          </a:solidFill>
          <a:ln w="12700">
            <a:solidFill>
              <a:srgbClr val="147A4C"/>
            </a:solidFill>
            <a:prstDash val="solid"/>
          </a:ln>
        </p:spPr>
      </p:sp>
      <p:sp>
        <p:nvSpPr>
          <p:cNvPr id="10" name="Text 8"/>
          <p:cNvSpPr/>
          <p:nvPr/>
        </p:nvSpPr>
        <p:spPr>
          <a:xfrm>
            <a:off x="1252728" y="4160520"/>
            <a:ext cx="10067544" cy="7772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Evaluate the improvement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Measure how far the developed system improves the accuracy and efficiency of attendance reporting.</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Literature Review — Attendance and Leave</a:t>
            </a:r>
            <a:endParaRPr lang="en-US" sz="3200" dirty="0"/>
          </a:p>
        </p:txBody>
      </p:sp>
      <p:sp>
        <p:nvSpPr>
          <p:cNvPr id="4" name="Text 2"/>
          <p:cNvSpPr/>
          <p:nvPr/>
        </p:nvSpPr>
        <p:spPr>
          <a:xfrm>
            <a:off x="685800" y="1691640"/>
            <a:ext cx="10817352" cy="4572000"/>
          </a:xfrm>
          <a:prstGeom prst="rect">
            <a:avLst/>
          </a:prstGeom>
          <a:noFill/>
          <a:ln/>
        </p:spPr>
        <p:txBody>
          <a:bodyPr wrap="square" lIns="0" tIns="0" rIns="0" bIns="0" rtlCol="0" anchor="t"/>
          <a:lstStyle/>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A large literature builds fingerprint attendance systems for schools and workplaces. Their contribution is framed as ending proxy attendance and replacing the manual register (Obansola et al., 2016).</a:t>
            </a:r>
            <a:endParaRPr lang="en-US" sz="2200" dirty="0"/>
          </a:p>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A smaller group combines fingerprint capture with an electronic leave module, so both records sit in one database. This is the closest prior work to the present project.</a:t>
            </a:r>
            <a:endParaRPr lang="en-US" sz="2200" dirty="0"/>
          </a:p>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In those designs leave is applied as a filter when the report is generated. The stored record still reads Absent, so any other consumer of the data reproduces the original error.</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Literature Review — Predicting Absenteeism</a:t>
            </a:r>
            <a:endParaRPr lang="en-US" sz="3200" dirty="0"/>
          </a:p>
        </p:txBody>
      </p:sp>
      <p:sp>
        <p:nvSpPr>
          <p:cNvPr id="4" name="Text 2"/>
          <p:cNvSpPr/>
          <p:nvPr/>
        </p:nvSpPr>
        <p:spPr>
          <a:xfrm>
            <a:off x="685800" y="1691640"/>
            <a:ext cx="10817352" cy="3840480"/>
          </a:xfrm>
          <a:prstGeom prst="rect">
            <a:avLst/>
          </a:prstGeom>
          <a:noFill/>
          <a:ln/>
        </p:spPr>
        <p:txBody>
          <a:bodyPr wrap="square" lIns="0" tIns="0" rIns="0" bIns="0" rtlCol="0" anchor="t"/>
          <a:lstStyle/>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Zupančič and Panov (2024) forecast employee absence from historical timesheet profiles and find that random forests and bagging outperform single models.</a:t>
            </a:r>
            <a:endParaRPr lang="en-US" sz="2200" dirty="0"/>
          </a:p>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Kim and Lee (2025) combine network analysis with ensemble methods on 740 courier records and report 93 per cent accuracy with ridge regression.</a:t>
            </a:r>
            <a:endParaRPr lang="en-US" sz="2200" dirty="0"/>
          </a:p>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Both studies work offline on exported datasets, and both assume their absence labels are correct. Neither is embedded in the system that produces the data.</a:t>
            </a:r>
            <a:endParaRPr lang="en-US" sz="2200" dirty="0"/>
          </a:p>
        </p:txBody>
      </p:sp>
      <p:sp>
        <p:nvSpPr>
          <p:cNvPr id="5" name="Text 3"/>
          <p:cNvSpPr/>
          <p:nvPr/>
        </p:nvSpPr>
        <p:spPr>
          <a:xfrm>
            <a:off x="914400" y="5669280"/>
            <a:ext cx="10360152" cy="685800"/>
          </a:xfrm>
          <a:prstGeom prst="rect">
            <a:avLst/>
          </a:prstGeom>
          <a:noFill/>
          <a:ln/>
        </p:spPr>
        <p:txBody>
          <a:bodyPr wrap="square" lIns="0" tIns="0" rIns="0" bIns="0" rtlCol="0" anchor="t"/>
          <a:lstStyle/>
          <a:p>
            <a:pPr algn="l" indent="0" marL="0">
              <a:lnSpc>
                <a:spcPct val="110000"/>
              </a:lnSpc>
              <a:buNone/>
            </a:pPr>
            <a:r>
              <a:rPr lang="en-US" sz="1500" dirty="0">
                <a:solidFill>
                  <a:srgbClr val="64748B"/>
                </a:solidFill>
                <a:latin typeface="Arial" pitchFamily="34" charset="0"/>
                <a:ea typeface="Arial" pitchFamily="34" charset="-122"/>
                <a:cs typeface="Arial" pitchFamily="34" charset="-120"/>
              </a:rPr>
              <a:t>Zupančič, P. and Panov, P. (2024) ‘Predicting employee absence from historical absence profiles with machine learning’, Applied Sciences, 14(16), 7037.</a:t>
            </a:r>
            <a:endParaRPr lang="en-US" sz="1500" dirty="0"/>
          </a:p>
          <a:p>
            <a:pPr algn="l" indent="0" marL="0">
              <a:lnSpc>
                <a:spcPct val="110000"/>
              </a:lnSpc>
              <a:buNone/>
            </a:pPr>
            <a:r>
              <a:rPr lang="en-US" sz="1500" dirty="0">
                <a:solidFill>
                  <a:srgbClr val="64748B"/>
                </a:solidFill>
                <a:latin typeface="Arial" pitchFamily="34" charset="0"/>
                <a:ea typeface="Arial" pitchFamily="34" charset="-122"/>
                <a:cs typeface="Arial" pitchFamily="34" charset="-120"/>
              </a:rPr>
              <a:t>Kim, D. and Lee, J.W. (2025) ‘Predicting absenteeism at workplace using machine learning and network analysis’, SAGE Open, 15(2).</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Comparison with Our System</a:t>
            </a:r>
            <a:endParaRPr lang="en-US" sz="3200" dirty="0"/>
          </a:p>
        </p:txBody>
      </p:sp>
      <p:sp>
        <p:nvSpPr>
          <p:cNvPr id="4" name="Text 2"/>
          <p:cNvSpPr/>
          <p:nvPr/>
        </p:nvSpPr>
        <p:spPr>
          <a:xfrm>
            <a:off x="1133856" y="1005840"/>
            <a:ext cx="10369296" cy="329184"/>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The dimensions that matter for the problem this project addresses</a:t>
            </a:r>
            <a:endParaRPr lang="en-US" sz="1600" dirty="0"/>
          </a:p>
        </p:txBody>
      </p:sp>
      <p:sp>
        <p:nvSpPr>
          <p:cNvPr id="5" name="Shape 3"/>
          <p:cNvSpPr/>
          <p:nvPr/>
        </p:nvSpPr>
        <p:spPr>
          <a:xfrm>
            <a:off x="685800" y="1572768"/>
            <a:ext cx="10817352" cy="640080"/>
          </a:xfrm>
          <a:prstGeom prst="rect">
            <a:avLst/>
          </a:prstGeom>
          <a:solidFill>
            <a:srgbClr val="0F172B"/>
          </a:solidFill>
          <a:ln w="6350">
            <a:solidFill>
              <a:srgbClr val="0F172B"/>
            </a:solidFill>
            <a:prstDash val="solid"/>
          </a:ln>
        </p:spPr>
      </p:sp>
      <p:sp>
        <p:nvSpPr>
          <p:cNvPr id="6" name="Text 4"/>
          <p:cNvSpPr/>
          <p:nvPr/>
        </p:nvSpPr>
        <p:spPr>
          <a:xfrm>
            <a:off x="868680" y="1572768"/>
            <a:ext cx="2834640" cy="640080"/>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System</a:t>
            </a:r>
            <a:endParaRPr lang="en-US" sz="1400" dirty="0"/>
          </a:p>
        </p:txBody>
      </p:sp>
      <p:sp>
        <p:nvSpPr>
          <p:cNvPr id="7" name="Text 5"/>
          <p:cNvSpPr/>
          <p:nvPr/>
        </p:nvSpPr>
        <p:spPr>
          <a:xfrm>
            <a:off x="3886200" y="1572768"/>
            <a:ext cx="1645920" cy="640080"/>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Approved absence</a:t>
            </a:r>
            <a:endParaRPr lang="en-US" sz="1400" dirty="0"/>
          </a:p>
        </p:txBody>
      </p:sp>
      <p:sp>
        <p:nvSpPr>
          <p:cNvPr id="8" name="Text 6"/>
          <p:cNvSpPr/>
          <p:nvPr/>
        </p:nvSpPr>
        <p:spPr>
          <a:xfrm>
            <a:off x="5715000" y="1572768"/>
            <a:ext cx="2057400" cy="640080"/>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Correction lands in</a:t>
            </a:r>
            <a:endParaRPr lang="en-US" sz="1400" dirty="0"/>
          </a:p>
        </p:txBody>
      </p:sp>
      <p:sp>
        <p:nvSpPr>
          <p:cNvPr id="9" name="Text 7"/>
          <p:cNvSpPr/>
          <p:nvPr/>
        </p:nvSpPr>
        <p:spPr>
          <a:xfrm>
            <a:off x="7955280" y="1572768"/>
            <a:ext cx="1554480" cy="640080"/>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Device independence</a:t>
            </a:r>
            <a:endParaRPr lang="en-US" sz="1400" dirty="0"/>
          </a:p>
        </p:txBody>
      </p:sp>
      <p:sp>
        <p:nvSpPr>
          <p:cNvPr id="10" name="Text 8"/>
          <p:cNvSpPr/>
          <p:nvPr/>
        </p:nvSpPr>
        <p:spPr>
          <a:xfrm>
            <a:off x="9692640" y="1572768"/>
            <a:ext cx="1417320" cy="640080"/>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Machine learning</a:t>
            </a:r>
            <a:endParaRPr lang="en-US" sz="1400" dirty="0"/>
          </a:p>
        </p:txBody>
      </p:sp>
      <p:sp>
        <p:nvSpPr>
          <p:cNvPr id="11" name="Shape 9"/>
          <p:cNvSpPr/>
          <p:nvPr/>
        </p:nvSpPr>
        <p:spPr>
          <a:xfrm>
            <a:off x="685800" y="2304288"/>
            <a:ext cx="10817352" cy="621792"/>
          </a:xfrm>
          <a:prstGeom prst="rect">
            <a:avLst/>
          </a:prstGeom>
          <a:solidFill>
            <a:srgbClr val="EAF6EF"/>
          </a:solidFill>
          <a:ln w="9525">
            <a:solidFill>
              <a:srgbClr val="EAF6EF"/>
            </a:solidFill>
            <a:prstDash val="solid"/>
          </a:ln>
        </p:spPr>
      </p:sp>
      <p:sp>
        <p:nvSpPr>
          <p:cNvPr id="12" name="Text 10"/>
          <p:cNvSpPr/>
          <p:nvPr/>
        </p:nvSpPr>
        <p:spPr>
          <a:xfrm>
            <a:off x="868680" y="2304288"/>
            <a:ext cx="2834640" cy="621792"/>
          </a:xfrm>
          <a:prstGeom prst="rect">
            <a:avLst/>
          </a:prstGeom>
          <a:noFill/>
          <a:ln/>
        </p:spPr>
        <p:txBody>
          <a:bodyPr wrap="square" lIns="0" tIns="0" rIns="0" bIns="0" rtlCol="0" anchor="ctr"/>
          <a:lstStyle/>
          <a:p>
            <a:pPr algn="l" indent="0" marL="0">
              <a:buNone/>
            </a:pPr>
            <a:r>
              <a:rPr lang="en-US" sz="1500" b="1" dirty="0">
                <a:solidFill>
                  <a:srgbClr val="0F172B"/>
                </a:solidFill>
                <a:latin typeface="Arial" pitchFamily="34" charset="0"/>
                <a:ea typeface="Arial" pitchFamily="34" charset="-122"/>
                <a:cs typeface="Arial" pitchFamily="34" charset="-120"/>
              </a:rPr>
              <a:t>Fingerprint attendance systems</a:t>
            </a:r>
            <a:endParaRPr lang="en-US" sz="1500" dirty="0"/>
          </a:p>
        </p:txBody>
      </p:sp>
      <p:sp>
        <p:nvSpPr>
          <p:cNvPr id="13" name="Text 11"/>
          <p:cNvSpPr/>
          <p:nvPr/>
        </p:nvSpPr>
        <p:spPr>
          <a:xfrm>
            <a:off x="3886200" y="2304288"/>
            <a:ext cx="164592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Not modelled</a:t>
            </a:r>
            <a:endParaRPr lang="en-US" sz="1500" dirty="0"/>
          </a:p>
        </p:txBody>
      </p:sp>
      <p:sp>
        <p:nvSpPr>
          <p:cNvPr id="14" name="Text 12"/>
          <p:cNvSpPr/>
          <p:nvPr/>
        </p:nvSpPr>
        <p:spPr>
          <a:xfrm>
            <a:off x="5715000" y="2304288"/>
            <a:ext cx="205740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Nowhere</a:t>
            </a:r>
            <a:endParaRPr lang="en-US" sz="1500" dirty="0"/>
          </a:p>
        </p:txBody>
      </p:sp>
      <p:sp>
        <p:nvSpPr>
          <p:cNvPr id="15" name="Text 13"/>
          <p:cNvSpPr/>
          <p:nvPr/>
        </p:nvSpPr>
        <p:spPr>
          <a:xfrm>
            <a:off x="7955280" y="2304288"/>
            <a:ext cx="155448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One vendor</a:t>
            </a:r>
            <a:endParaRPr lang="en-US" sz="1500" dirty="0"/>
          </a:p>
        </p:txBody>
      </p:sp>
      <p:sp>
        <p:nvSpPr>
          <p:cNvPr id="16" name="Text 14"/>
          <p:cNvSpPr/>
          <p:nvPr/>
        </p:nvSpPr>
        <p:spPr>
          <a:xfrm>
            <a:off x="9692640" y="2304288"/>
            <a:ext cx="141732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None</a:t>
            </a:r>
            <a:endParaRPr lang="en-US" sz="1500" dirty="0"/>
          </a:p>
        </p:txBody>
      </p:sp>
      <p:sp>
        <p:nvSpPr>
          <p:cNvPr id="17" name="Shape 15"/>
          <p:cNvSpPr/>
          <p:nvPr/>
        </p:nvSpPr>
        <p:spPr>
          <a:xfrm>
            <a:off x="685800" y="2980944"/>
            <a:ext cx="10817352" cy="621792"/>
          </a:xfrm>
          <a:prstGeom prst="rect">
            <a:avLst/>
          </a:prstGeom>
          <a:solidFill>
            <a:srgbClr val="FFFFFF"/>
          </a:solidFill>
          <a:ln w="9525">
            <a:solidFill>
              <a:srgbClr val="EAF6EF"/>
            </a:solidFill>
            <a:prstDash val="solid"/>
          </a:ln>
        </p:spPr>
      </p:sp>
      <p:sp>
        <p:nvSpPr>
          <p:cNvPr id="18" name="Text 16"/>
          <p:cNvSpPr/>
          <p:nvPr/>
        </p:nvSpPr>
        <p:spPr>
          <a:xfrm>
            <a:off x="868680" y="2980944"/>
            <a:ext cx="2834640" cy="621792"/>
          </a:xfrm>
          <a:prstGeom prst="rect">
            <a:avLst/>
          </a:prstGeom>
          <a:noFill/>
          <a:ln/>
        </p:spPr>
        <p:txBody>
          <a:bodyPr wrap="square" lIns="0" tIns="0" rIns="0" bIns="0" rtlCol="0" anchor="ctr"/>
          <a:lstStyle/>
          <a:p>
            <a:pPr algn="l" indent="0" marL="0">
              <a:buNone/>
            </a:pPr>
            <a:r>
              <a:rPr lang="en-US" sz="1500" b="1" dirty="0">
                <a:solidFill>
                  <a:srgbClr val="0F172B"/>
                </a:solidFill>
                <a:latin typeface="Arial" pitchFamily="34" charset="0"/>
                <a:ea typeface="Arial" pitchFamily="34" charset="-122"/>
                <a:cs typeface="Arial" pitchFamily="34" charset="-120"/>
              </a:rPr>
              <a:t>Combined attendance and leave</a:t>
            </a:r>
            <a:endParaRPr lang="en-US" sz="1500" dirty="0"/>
          </a:p>
        </p:txBody>
      </p:sp>
      <p:sp>
        <p:nvSpPr>
          <p:cNvPr id="19" name="Text 17"/>
          <p:cNvSpPr/>
          <p:nvPr/>
        </p:nvSpPr>
        <p:spPr>
          <a:xfrm>
            <a:off x="3886200" y="2980944"/>
            <a:ext cx="164592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Recognised</a:t>
            </a:r>
            <a:endParaRPr lang="en-US" sz="1500" dirty="0"/>
          </a:p>
        </p:txBody>
      </p:sp>
      <p:sp>
        <p:nvSpPr>
          <p:cNvPr id="20" name="Text 18"/>
          <p:cNvSpPr/>
          <p:nvPr/>
        </p:nvSpPr>
        <p:spPr>
          <a:xfrm>
            <a:off x="5715000" y="2980944"/>
            <a:ext cx="205740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The report only</a:t>
            </a:r>
            <a:endParaRPr lang="en-US" sz="1500" dirty="0"/>
          </a:p>
        </p:txBody>
      </p:sp>
      <p:sp>
        <p:nvSpPr>
          <p:cNvPr id="21" name="Text 19"/>
          <p:cNvSpPr/>
          <p:nvPr/>
        </p:nvSpPr>
        <p:spPr>
          <a:xfrm>
            <a:off x="7955280" y="2980944"/>
            <a:ext cx="155448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One vendor</a:t>
            </a:r>
            <a:endParaRPr lang="en-US" sz="1500" dirty="0"/>
          </a:p>
        </p:txBody>
      </p:sp>
      <p:sp>
        <p:nvSpPr>
          <p:cNvPr id="22" name="Text 20"/>
          <p:cNvSpPr/>
          <p:nvPr/>
        </p:nvSpPr>
        <p:spPr>
          <a:xfrm>
            <a:off x="9692640" y="2980944"/>
            <a:ext cx="141732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None</a:t>
            </a:r>
            <a:endParaRPr lang="en-US" sz="1500" dirty="0"/>
          </a:p>
        </p:txBody>
      </p:sp>
      <p:sp>
        <p:nvSpPr>
          <p:cNvPr id="23" name="Shape 21"/>
          <p:cNvSpPr/>
          <p:nvPr/>
        </p:nvSpPr>
        <p:spPr>
          <a:xfrm>
            <a:off x="685800" y="3657600"/>
            <a:ext cx="10817352" cy="621792"/>
          </a:xfrm>
          <a:prstGeom prst="rect">
            <a:avLst/>
          </a:prstGeom>
          <a:solidFill>
            <a:srgbClr val="EAF6EF"/>
          </a:solidFill>
          <a:ln w="9525">
            <a:solidFill>
              <a:srgbClr val="EAF6EF"/>
            </a:solidFill>
            <a:prstDash val="solid"/>
          </a:ln>
        </p:spPr>
      </p:sp>
      <p:sp>
        <p:nvSpPr>
          <p:cNvPr id="24" name="Text 22"/>
          <p:cNvSpPr/>
          <p:nvPr/>
        </p:nvSpPr>
        <p:spPr>
          <a:xfrm>
            <a:off x="868680" y="3657600"/>
            <a:ext cx="2834640" cy="621792"/>
          </a:xfrm>
          <a:prstGeom prst="rect">
            <a:avLst/>
          </a:prstGeom>
          <a:noFill/>
          <a:ln/>
        </p:spPr>
        <p:txBody>
          <a:bodyPr wrap="square" lIns="0" tIns="0" rIns="0" bIns="0" rtlCol="0" anchor="ctr"/>
          <a:lstStyle/>
          <a:p>
            <a:pPr algn="l" indent="0" marL="0">
              <a:buNone/>
            </a:pPr>
            <a:r>
              <a:rPr lang="en-US" sz="1500" b="1" dirty="0">
                <a:solidFill>
                  <a:srgbClr val="0F172B"/>
                </a:solidFill>
                <a:latin typeface="Arial" pitchFamily="34" charset="0"/>
                <a:ea typeface="Arial" pitchFamily="34" charset="-122"/>
                <a:cs typeface="Arial" pitchFamily="34" charset="-120"/>
              </a:rPr>
              <a:t>Vendor platforms with terminals</a:t>
            </a:r>
            <a:endParaRPr lang="en-US" sz="1500" dirty="0"/>
          </a:p>
        </p:txBody>
      </p:sp>
      <p:sp>
        <p:nvSpPr>
          <p:cNvPr id="25" name="Text 23"/>
          <p:cNvSpPr/>
          <p:nvPr/>
        </p:nvSpPr>
        <p:spPr>
          <a:xfrm>
            <a:off x="3886200" y="3657600"/>
            <a:ext cx="164592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Sometimes</a:t>
            </a:r>
            <a:endParaRPr lang="en-US" sz="1500" dirty="0"/>
          </a:p>
        </p:txBody>
      </p:sp>
      <p:sp>
        <p:nvSpPr>
          <p:cNvPr id="26" name="Text 24"/>
          <p:cNvSpPr/>
          <p:nvPr/>
        </p:nvSpPr>
        <p:spPr>
          <a:xfrm>
            <a:off x="5715000" y="3657600"/>
            <a:ext cx="205740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The report only</a:t>
            </a:r>
            <a:endParaRPr lang="en-US" sz="1500" dirty="0"/>
          </a:p>
        </p:txBody>
      </p:sp>
      <p:sp>
        <p:nvSpPr>
          <p:cNvPr id="27" name="Text 25"/>
          <p:cNvSpPr/>
          <p:nvPr/>
        </p:nvSpPr>
        <p:spPr>
          <a:xfrm>
            <a:off x="7955280" y="3657600"/>
            <a:ext cx="155448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One vendor</a:t>
            </a:r>
            <a:endParaRPr lang="en-US" sz="1500" dirty="0"/>
          </a:p>
        </p:txBody>
      </p:sp>
      <p:sp>
        <p:nvSpPr>
          <p:cNvPr id="28" name="Text 26"/>
          <p:cNvSpPr/>
          <p:nvPr/>
        </p:nvSpPr>
        <p:spPr>
          <a:xfrm>
            <a:off x="9692640" y="3657600"/>
            <a:ext cx="141732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None</a:t>
            </a:r>
            <a:endParaRPr lang="en-US" sz="1500" dirty="0"/>
          </a:p>
        </p:txBody>
      </p:sp>
      <p:sp>
        <p:nvSpPr>
          <p:cNvPr id="29" name="Shape 27"/>
          <p:cNvSpPr/>
          <p:nvPr/>
        </p:nvSpPr>
        <p:spPr>
          <a:xfrm>
            <a:off x="685800" y="4334256"/>
            <a:ext cx="10817352" cy="621792"/>
          </a:xfrm>
          <a:prstGeom prst="rect">
            <a:avLst/>
          </a:prstGeom>
          <a:solidFill>
            <a:srgbClr val="FFFFFF"/>
          </a:solidFill>
          <a:ln w="9525">
            <a:solidFill>
              <a:srgbClr val="EAF6EF"/>
            </a:solidFill>
            <a:prstDash val="solid"/>
          </a:ln>
        </p:spPr>
      </p:sp>
      <p:sp>
        <p:nvSpPr>
          <p:cNvPr id="30" name="Text 28"/>
          <p:cNvSpPr/>
          <p:nvPr/>
        </p:nvSpPr>
        <p:spPr>
          <a:xfrm>
            <a:off x="868680" y="4334256"/>
            <a:ext cx="2834640" cy="621792"/>
          </a:xfrm>
          <a:prstGeom prst="rect">
            <a:avLst/>
          </a:prstGeom>
          <a:noFill/>
          <a:ln/>
        </p:spPr>
        <p:txBody>
          <a:bodyPr wrap="square" lIns="0" tIns="0" rIns="0" bIns="0" rtlCol="0" anchor="ctr"/>
          <a:lstStyle/>
          <a:p>
            <a:pPr algn="l" indent="0" marL="0">
              <a:buNone/>
            </a:pPr>
            <a:r>
              <a:rPr lang="en-US" sz="1500" b="1" dirty="0">
                <a:solidFill>
                  <a:srgbClr val="0F172B"/>
                </a:solidFill>
                <a:latin typeface="Arial" pitchFamily="34" charset="0"/>
                <a:ea typeface="Arial" pitchFamily="34" charset="-122"/>
                <a:cs typeface="Arial" pitchFamily="34" charset="-120"/>
              </a:rPr>
              <a:t>Offline absenteeism studies</a:t>
            </a:r>
            <a:endParaRPr lang="en-US" sz="1500" dirty="0"/>
          </a:p>
        </p:txBody>
      </p:sp>
      <p:sp>
        <p:nvSpPr>
          <p:cNvPr id="31" name="Text 29"/>
          <p:cNvSpPr/>
          <p:nvPr/>
        </p:nvSpPr>
        <p:spPr>
          <a:xfrm>
            <a:off x="3886200" y="4334256"/>
            <a:ext cx="164592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Assumed correct</a:t>
            </a:r>
            <a:endParaRPr lang="en-US" sz="1500" dirty="0"/>
          </a:p>
        </p:txBody>
      </p:sp>
      <p:sp>
        <p:nvSpPr>
          <p:cNvPr id="32" name="Text 30"/>
          <p:cNvSpPr/>
          <p:nvPr/>
        </p:nvSpPr>
        <p:spPr>
          <a:xfrm>
            <a:off x="5715000" y="4334256"/>
            <a:ext cx="205740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Not applicable</a:t>
            </a:r>
            <a:endParaRPr lang="en-US" sz="1500" dirty="0"/>
          </a:p>
        </p:txBody>
      </p:sp>
      <p:sp>
        <p:nvSpPr>
          <p:cNvPr id="33" name="Text 31"/>
          <p:cNvSpPr/>
          <p:nvPr/>
        </p:nvSpPr>
        <p:spPr>
          <a:xfrm>
            <a:off x="7955280" y="4334256"/>
            <a:ext cx="155448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Not applicable</a:t>
            </a:r>
            <a:endParaRPr lang="en-US" sz="1500" dirty="0"/>
          </a:p>
        </p:txBody>
      </p:sp>
      <p:sp>
        <p:nvSpPr>
          <p:cNvPr id="34" name="Text 32"/>
          <p:cNvSpPr/>
          <p:nvPr/>
        </p:nvSpPr>
        <p:spPr>
          <a:xfrm>
            <a:off x="9692640" y="4334256"/>
            <a:ext cx="1417320" cy="621792"/>
          </a:xfrm>
          <a:prstGeom prst="rect">
            <a:avLst/>
          </a:prstGeom>
          <a:noFill/>
          <a:ln/>
        </p:spPr>
        <p:txBody>
          <a:bodyPr wrap="square" lIns="0" tIns="0" rIns="0" bIns="0" rtlCol="0" anchor="ctr"/>
          <a:lstStyle/>
          <a:p>
            <a:pPr algn="l" indent="0" marL="0">
              <a:buNone/>
            </a:pPr>
            <a:r>
              <a:rPr lang="en-US" sz="1500" dirty="0">
                <a:solidFill>
                  <a:srgbClr val="0F172B"/>
                </a:solidFill>
                <a:latin typeface="Arial" pitchFamily="34" charset="0"/>
                <a:ea typeface="Arial" pitchFamily="34" charset="-122"/>
                <a:cs typeface="Arial" pitchFamily="34" charset="-120"/>
              </a:rPr>
              <a:t>Offline only</a:t>
            </a:r>
            <a:endParaRPr lang="en-US" sz="1500" dirty="0"/>
          </a:p>
        </p:txBody>
      </p:sp>
      <p:sp>
        <p:nvSpPr>
          <p:cNvPr id="35" name="Shape 33"/>
          <p:cNvSpPr/>
          <p:nvPr/>
        </p:nvSpPr>
        <p:spPr>
          <a:xfrm>
            <a:off x="685800" y="5010912"/>
            <a:ext cx="10817352" cy="621792"/>
          </a:xfrm>
          <a:prstGeom prst="rect">
            <a:avLst/>
          </a:prstGeom>
          <a:solidFill>
            <a:srgbClr val="147A4C"/>
          </a:solidFill>
          <a:ln w="9525">
            <a:solidFill>
              <a:srgbClr val="147A4C"/>
            </a:solidFill>
            <a:prstDash val="solid"/>
          </a:ln>
        </p:spPr>
      </p:sp>
      <p:sp>
        <p:nvSpPr>
          <p:cNvPr id="36" name="Text 34"/>
          <p:cNvSpPr/>
          <p:nvPr/>
        </p:nvSpPr>
        <p:spPr>
          <a:xfrm>
            <a:off x="868680" y="5010912"/>
            <a:ext cx="2834640" cy="621792"/>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EAPMS (this project)</a:t>
            </a:r>
            <a:endParaRPr lang="en-US" sz="1500" dirty="0"/>
          </a:p>
        </p:txBody>
      </p:sp>
      <p:sp>
        <p:nvSpPr>
          <p:cNvPr id="37" name="Text 35"/>
          <p:cNvSpPr/>
          <p:nvPr/>
        </p:nvSpPr>
        <p:spPr>
          <a:xfrm>
            <a:off x="3886200" y="5010912"/>
            <a:ext cx="1645920" cy="621792"/>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Recognised</a:t>
            </a:r>
            <a:endParaRPr lang="en-US" sz="1500" dirty="0"/>
          </a:p>
        </p:txBody>
      </p:sp>
      <p:sp>
        <p:nvSpPr>
          <p:cNvPr id="38" name="Text 36"/>
          <p:cNvSpPr/>
          <p:nvPr/>
        </p:nvSpPr>
        <p:spPr>
          <a:xfrm>
            <a:off x="5715000" y="5010912"/>
            <a:ext cx="2057400" cy="621792"/>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The stored record</a:t>
            </a:r>
            <a:endParaRPr lang="en-US" sz="1500" dirty="0"/>
          </a:p>
        </p:txBody>
      </p:sp>
      <p:sp>
        <p:nvSpPr>
          <p:cNvPr id="39" name="Text 37"/>
          <p:cNvSpPr/>
          <p:nvPr/>
        </p:nvSpPr>
        <p:spPr>
          <a:xfrm>
            <a:off x="7955280" y="5010912"/>
            <a:ext cx="1554480" cy="621792"/>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Two vendors</a:t>
            </a:r>
            <a:endParaRPr lang="en-US" sz="1500" dirty="0"/>
          </a:p>
        </p:txBody>
      </p:sp>
      <p:sp>
        <p:nvSpPr>
          <p:cNvPr id="40" name="Text 38"/>
          <p:cNvSpPr/>
          <p:nvPr/>
        </p:nvSpPr>
        <p:spPr>
          <a:xfrm>
            <a:off x="9692640" y="5010912"/>
            <a:ext cx="1417320" cy="621792"/>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Embedded</a:t>
            </a:r>
            <a:endParaRPr lang="en-US" sz="1500" dirty="0"/>
          </a:p>
        </p:txBody>
      </p:sp>
      <p:sp>
        <p:nvSpPr>
          <p:cNvPr id="41" name="Text 39"/>
          <p:cNvSpPr/>
          <p:nvPr/>
        </p:nvSpPr>
        <p:spPr>
          <a:xfrm>
            <a:off x="914400" y="5669280"/>
            <a:ext cx="10360152" cy="685800"/>
          </a:xfrm>
          <a:prstGeom prst="rect">
            <a:avLst/>
          </a:prstGeom>
          <a:noFill/>
          <a:ln/>
        </p:spPr>
        <p:txBody>
          <a:bodyPr wrap="square" lIns="0" tIns="0" rIns="0" bIns="0" rtlCol="0" anchor="t"/>
          <a:lstStyle/>
          <a:p>
            <a:pPr algn="l" indent="0" marL="0">
              <a:lnSpc>
                <a:spcPct val="110000"/>
              </a:lnSpc>
              <a:buNone/>
            </a:pPr>
            <a:r>
              <a:rPr lang="en-US" sz="1500" dirty="0">
                <a:solidFill>
                  <a:srgbClr val="64748B"/>
                </a:solidFill>
                <a:latin typeface="Arial" pitchFamily="34" charset="0"/>
                <a:ea typeface="Arial" pitchFamily="34" charset="-122"/>
                <a:cs typeface="Arial" pitchFamily="34" charset="-120"/>
              </a:rPr>
              <a:t>The row that decides everything else is the third column: where the correction is written determines how much of it survives.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The Gap Our Project Fills</a:t>
            </a:r>
            <a:endParaRPr lang="en-US" sz="3200" dirty="0"/>
          </a:p>
        </p:txBody>
      </p:sp>
      <p:sp>
        <p:nvSpPr>
          <p:cNvPr id="4" name="Shape 2"/>
          <p:cNvSpPr/>
          <p:nvPr/>
        </p:nvSpPr>
        <p:spPr>
          <a:xfrm>
            <a:off x="905256" y="1901952"/>
            <a:ext cx="146304" cy="146304"/>
          </a:xfrm>
          <a:prstGeom prst="rect">
            <a:avLst/>
          </a:prstGeom>
          <a:solidFill>
            <a:srgbClr val="147A4C"/>
          </a:solidFill>
          <a:ln w="12700">
            <a:solidFill>
              <a:srgbClr val="147A4C"/>
            </a:solidFill>
            <a:prstDash val="solid"/>
          </a:ln>
        </p:spPr>
      </p:sp>
      <p:sp>
        <p:nvSpPr>
          <p:cNvPr id="5" name="Text 3"/>
          <p:cNvSpPr/>
          <p:nvPr/>
        </p:nvSpPr>
        <p:spPr>
          <a:xfrm>
            <a:off x="1252728" y="1783080"/>
            <a:ext cx="10067544" cy="7772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Correction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No reviewed system writes an approved permission onto the stored attendance record itself — idempotently, retroactively, and with an audit trail.</a:t>
            </a:r>
            <a:endParaRPr lang="en-US" sz="2000" dirty="0"/>
          </a:p>
        </p:txBody>
      </p:sp>
      <p:sp>
        <p:nvSpPr>
          <p:cNvPr id="6" name="Shape 4"/>
          <p:cNvSpPr/>
          <p:nvPr/>
        </p:nvSpPr>
        <p:spPr>
          <a:xfrm>
            <a:off x="905256" y="3044952"/>
            <a:ext cx="146304" cy="146304"/>
          </a:xfrm>
          <a:prstGeom prst="rect">
            <a:avLst/>
          </a:prstGeom>
          <a:solidFill>
            <a:srgbClr val="147A4C"/>
          </a:solidFill>
          <a:ln w="12700">
            <a:solidFill>
              <a:srgbClr val="147A4C"/>
            </a:solidFill>
            <a:prstDash val="solid"/>
          </a:ln>
        </p:spPr>
      </p:sp>
      <p:sp>
        <p:nvSpPr>
          <p:cNvPr id="7" name="Text 5"/>
          <p:cNvSpPr/>
          <p:nvPr/>
        </p:nvSpPr>
        <p:spPr>
          <a:xfrm>
            <a:off x="1252728" y="2926080"/>
            <a:ext cx="10067544" cy="7772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Analysis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Machine learning on attendance runs offline, so its findings never reach the officer who could act, and it is applied to labels nobody has corrected.</a:t>
            </a:r>
            <a:endParaRPr lang="en-US" sz="2000" dirty="0"/>
          </a:p>
        </p:txBody>
      </p:sp>
      <p:sp>
        <p:nvSpPr>
          <p:cNvPr id="8" name="Shape 6"/>
          <p:cNvSpPr/>
          <p:nvPr/>
        </p:nvSpPr>
        <p:spPr>
          <a:xfrm>
            <a:off x="905256" y="4187952"/>
            <a:ext cx="146304" cy="146304"/>
          </a:xfrm>
          <a:prstGeom prst="rect">
            <a:avLst/>
          </a:prstGeom>
          <a:solidFill>
            <a:srgbClr val="147A4C"/>
          </a:solidFill>
          <a:ln w="12700">
            <a:solidFill>
              <a:srgbClr val="147A4C"/>
            </a:solidFill>
            <a:prstDash val="solid"/>
          </a:ln>
        </p:spPr>
      </p:sp>
      <p:sp>
        <p:nvSpPr>
          <p:cNvPr id="9" name="Text 7"/>
          <p:cNvSpPr/>
          <p:nvPr/>
        </p:nvSpPr>
        <p:spPr>
          <a:xfrm>
            <a:off x="1252728" y="4069080"/>
            <a:ext cx="10067544" cy="7772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Hardware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Systems that do combine capture and leave are tied to a single vendor, which limits how easily they move between institutions.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Methodology — Method of Development</a:t>
            </a:r>
            <a:endParaRPr lang="en-US" sz="3200" dirty="0"/>
          </a:p>
        </p:txBody>
      </p:sp>
      <p:sp>
        <p:nvSpPr>
          <p:cNvPr id="4" name="Text 2"/>
          <p:cNvSpPr/>
          <p:nvPr/>
        </p:nvSpPr>
        <p:spPr>
          <a:xfrm>
            <a:off x="685800" y="1691640"/>
            <a:ext cx="10817352" cy="4572000"/>
          </a:xfrm>
          <a:prstGeom prst="rect">
            <a:avLst/>
          </a:prstGeom>
          <a:noFill/>
          <a:ln/>
        </p:spPr>
        <p:txBody>
          <a:bodyPr wrap="square" lIns="0" tIns="0" rIns="0" bIns="0" rtlCol="0" anchor="t"/>
          <a:lstStyle/>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The project is a design and development study: it builds a working system, and establishes its findings by evaluating that system against the stated objectives.</a:t>
            </a:r>
            <a:endParaRPr lang="en-US" sz="2200" dirty="0"/>
          </a:p>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Development was incremental and iterative across eighteen phases. A phase counted as complete only when its deliverable was demonstrable and its automated tests passed.</a:t>
            </a:r>
            <a:endParaRPr lang="en-US" sz="2200" dirty="0"/>
          </a:p>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Waterfall was rejected because the precedence rules for synchronisation only became clear once real attendance computation existed for them to conflict with.</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Tools Used</a:t>
            </a:r>
            <a:endParaRPr lang="en-US" sz="3200" dirty="0"/>
          </a:p>
        </p:txBody>
      </p:sp>
      <p:sp>
        <p:nvSpPr>
          <p:cNvPr id="4" name="Text 2"/>
          <p:cNvSpPr/>
          <p:nvPr/>
        </p:nvSpPr>
        <p:spPr>
          <a:xfrm>
            <a:off x="1133856" y="1005840"/>
            <a:ext cx="10369296" cy="329184"/>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Paired by the job they do</a:t>
            </a:r>
            <a:endParaRPr lang="en-US" sz="1600" dirty="0"/>
          </a:p>
        </p:txBody>
      </p:sp>
      <p:sp>
        <p:nvSpPr>
          <p:cNvPr id="5" name="Shape 3"/>
          <p:cNvSpPr/>
          <p:nvPr/>
        </p:nvSpPr>
        <p:spPr>
          <a:xfrm>
            <a:off x="905256" y="1947672"/>
            <a:ext cx="146304" cy="146304"/>
          </a:xfrm>
          <a:prstGeom prst="rect">
            <a:avLst/>
          </a:prstGeom>
          <a:solidFill>
            <a:srgbClr val="147A4C"/>
          </a:solidFill>
          <a:ln w="12700">
            <a:solidFill>
              <a:srgbClr val="147A4C"/>
            </a:solidFill>
            <a:prstDash val="solid"/>
          </a:ln>
        </p:spPr>
      </p:sp>
      <p:sp>
        <p:nvSpPr>
          <p:cNvPr id="6" name="Text 4"/>
          <p:cNvSpPr/>
          <p:nvPr/>
        </p:nvSpPr>
        <p:spPr>
          <a:xfrm>
            <a:off x="1252728" y="1828800"/>
            <a:ext cx="10067544" cy="10058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Laravel and MySQL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the server and its database. Laravel supplies authentication, roles, queueing and scheduling that would otherwise be written by hand, and MySQL enforces the unique constraints the synchronisation engine depends on.</a:t>
            </a:r>
            <a:endParaRPr lang="en-US" sz="2000" dirty="0"/>
          </a:p>
        </p:txBody>
      </p:sp>
      <p:sp>
        <p:nvSpPr>
          <p:cNvPr id="7" name="Shape 5"/>
          <p:cNvSpPr/>
          <p:nvPr/>
        </p:nvSpPr>
        <p:spPr>
          <a:xfrm>
            <a:off x="905256" y="3246120"/>
            <a:ext cx="146304" cy="146304"/>
          </a:xfrm>
          <a:prstGeom prst="rect">
            <a:avLst/>
          </a:prstGeom>
          <a:solidFill>
            <a:srgbClr val="147A4C"/>
          </a:solidFill>
          <a:ln w="12700">
            <a:solidFill>
              <a:srgbClr val="147A4C"/>
            </a:solidFill>
            <a:prstDash val="solid"/>
          </a:ln>
        </p:spPr>
      </p:sp>
      <p:sp>
        <p:nvSpPr>
          <p:cNvPr id="8" name="Text 6"/>
          <p:cNvSpPr/>
          <p:nvPr/>
        </p:nvSpPr>
        <p:spPr>
          <a:xfrm>
            <a:off x="1252728" y="3127248"/>
            <a:ext cx="10067544" cy="10058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React and TypeScript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the client. Inertia keeps routing and authorisation on the server while React gives single-page responsiveness, and static typing catches a class of defect that testing finds late.</a:t>
            </a:r>
            <a:endParaRPr lang="en-US" sz="2000" dirty="0"/>
          </a:p>
        </p:txBody>
      </p:sp>
      <p:sp>
        <p:nvSpPr>
          <p:cNvPr id="9" name="Shape 7"/>
          <p:cNvSpPr/>
          <p:nvPr/>
        </p:nvSpPr>
        <p:spPr>
          <a:xfrm>
            <a:off x="905256" y="4544568"/>
            <a:ext cx="146304" cy="146304"/>
          </a:xfrm>
          <a:prstGeom prst="rect">
            <a:avLst/>
          </a:prstGeom>
          <a:solidFill>
            <a:srgbClr val="147A4C"/>
          </a:solidFill>
          <a:ln w="12700">
            <a:solidFill>
              <a:srgbClr val="147A4C"/>
            </a:solidFill>
            <a:prstDash val="solid"/>
          </a:ln>
        </p:spPr>
      </p:sp>
      <p:sp>
        <p:nvSpPr>
          <p:cNvPr id="10" name="Text 8"/>
          <p:cNvSpPr/>
          <p:nvPr/>
        </p:nvSpPr>
        <p:spPr>
          <a:xfrm>
            <a:off x="1252728" y="4425696"/>
            <a:ext cx="10067544" cy="100584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scikit-learn and FastAPI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the analysis service. scikit-learn provides Isolation Forest and random forests, both explainable, and FastAPI exposes them to the core application over a signed internal interface.</a:t>
            </a:r>
            <a:endParaRPr lang="en-US" sz="2000" dirty="0"/>
          </a:p>
        </p:txBody>
      </p:sp>
      <p:sp>
        <p:nvSpPr>
          <p:cNvPr id="11" name="Text 9"/>
          <p:cNvSpPr/>
          <p:nvPr/>
        </p:nvSpPr>
        <p:spPr>
          <a:xfrm>
            <a:off x="914400" y="5669280"/>
            <a:ext cx="10360152" cy="685800"/>
          </a:xfrm>
          <a:prstGeom prst="rect">
            <a:avLst/>
          </a:prstGeom>
          <a:noFill/>
          <a:ln/>
        </p:spPr>
        <p:txBody>
          <a:bodyPr wrap="square" lIns="0" tIns="0" rIns="0" bIns="0" rtlCol="0" anchor="t"/>
          <a:lstStyle/>
          <a:p>
            <a:pPr algn="l" indent="0" marL="0">
              <a:lnSpc>
                <a:spcPct val="110000"/>
              </a:lnSpc>
              <a:buNone/>
            </a:pPr>
            <a:r>
              <a:rPr lang="en-US" sz="1500" dirty="0">
                <a:solidFill>
                  <a:srgbClr val="64748B"/>
                </a:solidFill>
                <a:latin typeface="Arial" pitchFamily="34" charset="0"/>
                <a:ea typeface="Arial" pitchFamily="34" charset="-122"/>
                <a:cs typeface="Arial" pitchFamily="34" charset="-120"/>
              </a:rPr>
              <a:t>The biometric adapter reaches ZKTeco through pyzk and Hikvision through ISAPI. The whole stack runs under Docker Compose, and PHPUnit, pytest, Pint and Ruff run before any change is merged.</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How the System Was Tested</a:t>
            </a:r>
            <a:endParaRPr lang="en-US" sz="3200" dirty="0"/>
          </a:p>
        </p:txBody>
      </p:sp>
      <p:sp>
        <p:nvSpPr>
          <p:cNvPr id="4" name="Text 2"/>
          <p:cNvSpPr/>
          <p:nvPr/>
        </p:nvSpPr>
        <p:spPr>
          <a:xfrm>
            <a:off x="1133856" y="1005840"/>
            <a:ext cx="10369296" cy="329184"/>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Four levels, each answering a different question</a:t>
            </a:r>
            <a:endParaRPr lang="en-US" sz="1600" dirty="0"/>
          </a:p>
        </p:txBody>
      </p:sp>
      <p:sp>
        <p:nvSpPr>
          <p:cNvPr id="5" name="Shape 3"/>
          <p:cNvSpPr/>
          <p:nvPr/>
        </p:nvSpPr>
        <p:spPr>
          <a:xfrm>
            <a:off x="905256" y="1947672"/>
            <a:ext cx="146304" cy="146304"/>
          </a:xfrm>
          <a:prstGeom prst="rect">
            <a:avLst/>
          </a:prstGeom>
          <a:solidFill>
            <a:srgbClr val="147A4C"/>
          </a:solidFill>
          <a:ln w="12700">
            <a:solidFill>
              <a:srgbClr val="147A4C"/>
            </a:solidFill>
            <a:prstDash val="solid"/>
          </a:ln>
        </p:spPr>
      </p:sp>
      <p:sp>
        <p:nvSpPr>
          <p:cNvPr id="6" name="Text 4"/>
          <p:cNvSpPr/>
          <p:nvPr/>
        </p:nvSpPr>
        <p:spPr>
          <a:xfrm>
            <a:off x="1252728" y="1828800"/>
            <a:ext cx="10067544" cy="1051560"/>
          </a:xfrm>
          <a:prstGeom prst="rect">
            <a:avLst/>
          </a:prstGeom>
          <a:noFill/>
          <a:ln/>
        </p:spPr>
        <p:txBody>
          <a:bodyPr wrap="square" lIns="0" tIns="0" rIns="0" bIns="0" rtlCol="0" anchor="t"/>
          <a:lstStyle/>
          <a:p>
            <a:pPr algn="l" indent="0" marL="0">
              <a:lnSpc>
                <a:spcPct val="112000"/>
              </a:lnSpc>
              <a:buNone/>
            </a:pPr>
            <a:r>
              <a:rPr lang="en-US" sz="1900" b="1" dirty="0">
                <a:solidFill>
                  <a:srgbClr val="147A4C"/>
                </a:solidFill>
                <a:latin typeface="Arial" pitchFamily="34" charset="0"/>
                <a:ea typeface="Arial" pitchFamily="34" charset="-122"/>
                <a:cs typeface="Arial" pitchFamily="34" charset="-120"/>
              </a:rPr>
              <a:t>Unit testing — </a:t>
            </a:r>
            <a:pPr algn="l" indent="0" marL="0">
              <a:lnSpc>
                <a:spcPct val="112000"/>
              </a:lnSpc>
              <a:buNone/>
            </a:pPr>
            <a:r>
              <a:rPr lang="en-US" sz="1900" dirty="0">
                <a:solidFill>
                  <a:srgbClr val="0F172B"/>
                </a:solidFill>
                <a:latin typeface="Arial" pitchFamily="34" charset="0"/>
                <a:ea typeface="Arial" pitchFamily="34" charset="-122"/>
                <a:cs typeface="Arial" pitchFamily="34" charset="-120"/>
              </a:rPr>
              <a:t>components in isolation — the attendance calculator against fixed punch sets, each device driver against recorded responses, and the feature pipeline against known histories.</a:t>
            </a:r>
            <a:endParaRPr lang="en-US" sz="1900" dirty="0"/>
          </a:p>
        </p:txBody>
      </p:sp>
      <p:sp>
        <p:nvSpPr>
          <p:cNvPr id="7" name="Shape 5"/>
          <p:cNvSpPr/>
          <p:nvPr/>
        </p:nvSpPr>
        <p:spPr>
          <a:xfrm>
            <a:off x="905256" y="3081528"/>
            <a:ext cx="146304" cy="146304"/>
          </a:xfrm>
          <a:prstGeom prst="rect">
            <a:avLst/>
          </a:prstGeom>
          <a:solidFill>
            <a:srgbClr val="147A4C"/>
          </a:solidFill>
          <a:ln w="12700">
            <a:solidFill>
              <a:srgbClr val="147A4C"/>
            </a:solidFill>
            <a:prstDash val="solid"/>
          </a:ln>
        </p:spPr>
      </p:sp>
      <p:sp>
        <p:nvSpPr>
          <p:cNvPr id="8" name="Text 6"/>
          <p:cNvSpPr/>
          <p:nvPr/>
        </p:nvSpPr>
        <p:spPr>
          <a:xfrm>
            <a:off x="1252728" y="2962656"/>
            <a:ext cx="10067544" cy="1051560"/>
          </a:xfrm>
          <a:prstGeom prst="rect">
            <a:avLst/>
          </a:prstGeom>
          <a:noFill/>
          <a:ln/>
        </p:spPr>
        <p:txBody>
          <a:bodyPr wrap="square" lIns="0" tIns="0" rIns="0" bIns="0" rtlCol="0" anchor="t"/>
          <a:lstStyle/>
          <a:p>
            <a:pPr algn="l" indent="0" marL="0">
              <a:lnSpc>
                <a:spcPct val="112000"/>
              </a:lnSpc>
              <a:buNone/>
            </a:pPr>
            <a:r>
              <a:rPr lang="en-US" sz="1900" b="1" dirty="0">
                <a:solidFill>
                  <a:srgbClr val="147A4C"/>
                </a:solidFill>
                <a:latin typeface="Arial" pitchFamily="34" charset="0"/>
                <a:ea typeface="Arial" pitchFamily="34" charset="-122"/>
                <a:cs typeface="Arial" pitchFamily="34" charset="-120"/>
              </a:rPr>
              <a:t>Integration testing — </a:t>
            </a:r>
            <a:pPr algn="l" indent="0" marL="0">
              <a:lnSpc>
                <a:spcPct val="112000"/>
              </a:lnSpc>
              <a:buNone/>
            </a:pPr>
            <a:r>
              <a:rPr lang="en-US" sz="1900" dirty="0">
                <a:solidFill>
                  <a:srgbClr val="0F172B"/>
                </a:solidFill>
                <a:latin typeface="Arial" pitchFamily="34" charset="0"/>
                <a:ea typeface="Arial" pitchFamily="34" charset="-122"/>
                <a:cs typeface="Arial" pitchFamily="34" charset="-120"/>
              </a:rPr>
              <a:t>the boundaries between the three services — that the adapter sends the expected payload and header, that ingestion triggers computation, and that scoring fails safely when the analysis service is down.</a:t>
            </a:r>
            <a:endParaRPr lang="en-US" sz="1900" dirty="0"/>
          </a:p>
        </p:txBody>
      </p:sp>
      <p:sp>
        <p:nvSpPr>
          <p:cNvPr id="9" name="Shape 7"/>
          <p:cNvSpPr/>
          <p:nvPr/>
        </p:nvSpPr>
        <p:spPr>
          <a:xfrm>
            <a:off x="905256" y="4215384"/>
            <a:ext cx="146304" cy="146304"/>
          </a:xfrm>
          <a:prstGeom prst="rect">
            <a:avLst/>
          </a:prstGeom>
          <a:solidFill>
            <a:srgbClr val="147A4C"/>
          </a:solidFill>
          <a:ln w="12700">
            <a:solidFill>
              <a:srgbClr val="147A4C"/>
            </a:solidFill>
            <a:prstDash val="solid"/>
          </a:ln>
        </p:spPr>
      </p:sp>
      <p:sp>
        <p:nvSpPr>
          <p:cNvPr id="10" name="Text 8"/>
          <p:cNvSpPr/>
          <p:nvPr/>
        </p:nvSpPr>
        <p:spPr>
          <a:xfrm>
            <a:off x="1252728" y="4096512"/>
            <a:ext cx="10067544" cy="1051560"/>
          </a:xfrm>
          <a:prstGeom prst="rect">
            <a:avLst/>
          </a:prstGeom>
          <a:noFill/>
          <a:ln/>
        </p:spPr>
        <p:txBody>
          <a:bodyPr wrap="square" lIns="0" tIns="0" rIns="0" bIns="0" rtlCol="0" anchor="t"/>
          <a:lstStyle/>
          <a:p>
            <a:pPr algn="l" indent="0" marL="0">
              <a:lnSpc>
                <a:spcPct val="112000"/>
              </a:lnSpc>
              <a:buNone/>
            </a:pPr>
            <a:r>
              <a:rPr lang="en-US" sz="1900" b="1" dirty="0">
                <a:solidFill>
                  <a:srgbClr val="147A4C"/>
                </a:solidFill>
                <a:latin typeface="Arial" pitchFamily="34" charset="0"/>
                <a:ea typeface="Arial" pitchFamily="34" charset="-122"/>
                <a:cs typeface="Arial" pitchFamily="34" charset="-120"/>
              </a:rPr>
              <a:t>System testing — </a:t>
            </a:r>
            <a:pPr algn="l" indent="0" marL="0">
              <a:lnSpc>
                <a:spcPct val="112000"/>
              </a:lnSpc>
              <a:buNone/>
            </a:pPr>
            <a:r>
              <a:rPr lang="en-US" sz="1900" dirty="0">
                <a:solidFill>
                  <a:srgbClr val="0F172B"/>
                </a:solidFill>
                <a:latin typeface="Arial" pitchFamily="34" charset="0"/>
                <a:ea typeface="Arial" pitchFamily="34" charset="-122"/>
                <a:cs typeface="Arial" pitchFamily="34" charset="-120"/>
              </a:rPr>
              <a:t>complete journeys end to end — submit a request, approve it over HTTP, and assert the resulting change to the attendance record and to the monthly report.</a:t>
            </a:r>
            <a:endParaRPr lang="en-US" sz="1900" dirty="0"/>
          </a:p>
        </p:txBody>
      </p:sp>
      <p:sp>
        <p:nvSpPr>
          <p:cNvPr id="11" name="Shape 9"/>
          <p:cNvSpPr/>
          <p:nvPr/>
        </p:nvSpPr>
        <p:spPr>
          <a:xfrm>
            <a:off x="905256" y="5193792"/>
            <a:ext cx="146304" cy="146304"/>
          </a:xfrm>
          <a:prstGeom prst="rect">
            <a:avLst/>
          </a:prstGeom>
          <a:solidFill>
            <a:srgbClr val="147A4C"/>
          </a:solidFill>
          <a:ln w="12700">
            <a:solidFill>
              <a:srgbClr val="147A4C"/>
            </a:solidFill>
            <a:prstDash val="solid"/>
          </a:ln>
        </p:spPr>
      </p:sp>
      <p:sp>
        <p:nvSpPr>
          <p:cNvPr id="12" name="Text 10"/>
          <p:cNvSpPr/>
          <p:nvPr/>
        </p:nvSpPr>
        <p:spPr>
          <a:xfrm>
            <a:off x="1252728" y="5074920"/>
            <a:ext cx="10067544" cy="1051560"/>
          </a:xfrm>
          <a:prstGeom prst="rect">
            <a:avLst/>
          </a:prstGeom>
          <a:noFill/>
          <a:ln/>
        </p:spPr>
        <p:txBody>
          <a:bodyPr wrap="square" lIns="0" tIns="0" rIns="0" bIns="0" rtlCol="0" anchor="t"/>
          <a:lstStyle/>
          <a:p>
            <a:pPr algn="l" indent="0" marL="0">
              <a:lnSpc>
                <a:spcPct val="112000"/>
              </a:lnSpc>
              <a:buNone/>
            </a:pPr>
            <a:r>
              <a:rPr lang="en-US" sz="1900" b="1" dirty="0">
                <a:solidFill>
                  <a:srgbClr val="147A4C"/>
                </a:solidFill>
                <a:latin typeface="Arial" pitchFamily="34" charset="0"/>
                <a:ea typeface="Arial" pitchFamily="34" charset="-122"/>
                <a:cs typeface="Arial" pitchFamily="34" charset="-120"/>
              </a:rPr>
              <a:t>User acceptance testing — </a:t>
            </a:r>
            <a:pPr algn="l" indent="0" marL="0">
              <a:lnSpc>
                <a:spcPct val="112000"/>
              </a:lnSpc>
              <a:buNone/>
            </a:pPr>
            <a:r>
              <a:rPr lang="en-US" sz="1900" dirty="0">
                <a:solidFill>
                  <a:srgbClr val="0F172B"/>
                </a:solidFill>
                <a:latin typeface="Arial" pitchFamily="34" charset="0"/>
                <a:ea typeface="Arial" pitchFamily="34" charset="-122"/>
                <a:cs typeface="Arial" pitchFamily="34" charset="-120"/>
              </a:rPr>
              <a:t>a written script mapping every objective to a manual step and to the automated tests covering the same behaviour, executed at the end of the testing phase.</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Use Case Diagram</a:t>
            </a:r>
            <a:endParaRPr lang="en-US" sz="3200" dirty="0"/>
          </a:p>
        </p:txBody>
      </p:sp>
      <p:sp>
        <p:nvSpPr>
          <p:cNvPr id="4" name="Text 2"/>
          <p:cNvSpPr/>
          <p:nvPr/>
        </p:nvSpPr>
        <p:spPr>
          <a:xfrm>
            <a:off x="1133856" y="1005840"/>
            <a:ext cx="10369296" cy="329184"/>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Three actors; privileges are cumulative — an Administrator can do everything an HR Officer can</a:t>
            </a:r>
            <a:endParaRPr lang="en-US" sz="1600" dirty="0"/>
          </a:p>
        </p:txBody>
      </p:sp>
      <p:sp>
        <p:nvSpPr>
          <p:cNvPr id="5" name="Shape 3"/>
          <p:cNvSpPr/>
          <p:nvPr/>
        </p:nvSpPr>
        <p:spPr>
          <a:xfrm>
            <a:off x="3611880" y="1554480"/>
            <a:ext cx="4983480" cy="4626864"/>
          </a:xfrm>
          <a:prstGeom prst="roundRect">
            <a:avLst>
              <a:gd name="adj" fmla="val 593"/>
            </a:avLst>
          </a:prstGeom>
          <a:solidFill>
            <a:srgbClr val="FFFFFF"/>
          </a:solidFill>
          <a:ln w="19050">
            <a:solidFill>
              <a:srgbClr val="0F172B"/>
            </a:solidFill>
            <a:prstDash val="solid"/>
          </a:ln>
        </p:spPr>
      </p:sp>
      <p:sp>
        <p:nvSpPr>
          <p:cNvPr id="6" name="Text 4"/>
          <p:cNvSpPr/>
          <p:nvPr/>
        </p:nvSpPr>
        <p:spPr>
          <a:xfrm>
            <a:off x="3611880" y="1645920"/>
            <a:ext cx="4983480" cy="310896"/>
          </a:xfrm>
          <a:prstGeom prst="rect">
            <a:avLst/>
          </a:prstGeom>
          <a:noFill/>
          <a:ln/>
        </p:spPr>
        <p:txBody>
          <a:bodyPr wrap="square" lIns="0" tIns="0" rIns="0" bIns="0" rtlCol="0" anchor="ctr"/>
          <a:lstStyle/>
          <a:p>
            <a:pPr algn="ctr" indent="0" marL="0">
              <a:buNone/>
            </a:pPr>
            <a:r>
              <a:rPr lang="en-US" sz="1300" b="1" dirty="0">
                <a:solidFill>
                  <a:srgbClr val="147A4C"/>
                </a:solidFill>
                <a:latin typeface="Arial" pitchFamily="34" charset="0"/>
                <a:ea typeface="Arial" pitchFamily="34" charset="-122"/>
                <a:cs typeface="Arial" pitchFamily="34" charset="-120"/>
              </a:rPr>
              <a:t>EAPMS</a:t>
            </a:r>
            <a:endParaRPr lang="en-US" sz="1300" dirty="0"/>
          </a:p>
        </p:txBody>
      </p:sp>
      <p:sp>
        <p:nvSpPr>
          <p:cNvPr id="7" name="Text 5"/>
          <p:cNvSpPr/>
          <p:nvPr/>
        </p:nvSpPr>
        <p:spPr>
          <a:xfrm>
            <a:off x="3840480" y="2011680"/>
            <a:ext cx="4526280" cy="457200"/>
          </a:xfrm>
          <a:prstGeom prst="ellipse">
            <a:avLst/>
          </a:prstGeom>
          <a:solidFill>
            <a:srgbClr val="FFFFFF"/>
          </a:solidFill>
          <a:ln w="15875">
            <a:solidFill>
              <a:srgbClr val="0F172B"/>
            </a:solidFill>
          </a:ln>
        </p:spPr>
        <p:txBody>
          <a:bodyPr wrap="square" lIns="25400" tIns="25400" rIns="25400" bIns="25400" rtlCol="0" anchor="ctr"/>
          <a:lstStyle/>
          <a:p>
            <a:pPr algn="ctr" indent="0" marL="0">
              <a:buNone/>
            </a:pPr>
            <a:r>
              <a:rPr lang="en-US" sz="1250" dirty="0">
                <a:solidFill>
                  <a:srgbClr val="0F172B"/>
                </a:solidFill>
                <a:latin typeface="Arial" pitchFamily="34" charset="0"/>
                <a:ea typeface="Arial" pitchFamily="34" charset="-122"/>
                <a:cs typeface="Arial" pitchFamily="34" charset="-120"/>
              </a:rPr>
              <a:t>View own attendance record</a:t>
            </a:r>
            <a:endParaRPr lang="en-US" sz="1250" dirty="0"/>
          </a:p>
        </p:txBody>
      </p:sp>
      <p:sp>
        <p:nvSpPr>
          <p:cNvPr id="8" name="Text 6"/>
          <p:cNvSpPr/>
          <p:nvPr/>
        </p:nvSpPr>
        <p:spPr>
          <a:xfrm>
            <a:off x="3840480" y="2606040"/>
            <a:ext cx="4526280" cy="457200"/>
          </a:xfrm>
          <a:prstGeom prst="ellipse">
            <a:avLst/>
          </a:prstGeom>
          <a:solidFill>
            <a:srgbClr val="FFFFFF"/>
          </a:solidFill>
          <a:ln w="15875">
            <a:solidFill>
              <a:srgbClr val="0F172B"/>
            </a:solidFill>
          </a:ln>
        </p:spPr>
        <p:txBody>
          <a:bodyPr wrap="square" lIns="25400" tIns="25400" rIns="25400" bIns="25400" rtlCol="0" anchor="ctr"/>
          <a:lstStyle/>
          <a:p>
            <a:pPr algn="ctr" indent="0" marL="0">
              <a:buNone/>
            </a:pPr>
            <a:r>
              <a:rPr lang="en-US" sz="1250" dirty="0">
                <a:solidFill>
                  <a:srgbClr val="0F172B"/>
                </a:solidFill>
                <a:latin typeface="Arial" pitchFamily="34" charset="0"/>
                <a:ea typeface="Arial" pitchFamily="34" charset="-122"/>
                <a:cs typeface="Arial" pitchFamily="34" charset="-120"/>
              </a:rPr>
              <a:t>Submit permission or leave request</a:t>
            </a:r>
            <a:endParaRPr lang="en-US" sz="1250" dirty="0"/>
          </a:p>
        </p:txBody>
      </p:sp>
      <p:sp>
        <p:nvSpPr>
          <p:cNvPr id="9" name="Text 7"/>
          <p:cNvSpPr/>
          <p:nvPr/>
        </p:nvSpPr>
        <p:spPr>
          <a:xfrm>
            <a:off x="3840480" y="3200400"/>
            <a:ext cx="4526280" cy="457200"/>
          </a:xfrm>
          <a:prstGeom prst="ellipse">
            <a:avLst/>
          </a:prstGeom>
          <a:solidFill>
            <a:srgbClr val="FFFFFF"/>
          </a:solidFill>
          <a:ln w="15875">
            <a:solidFill>
              <a:srgbClr val="0F172B"/>
            </a:solidFill>
          </a:ln>
        </p:spPr>
        <p:txBody>
          <a:bodyPr wrap="square" lIns="25400" tIns="25400" rIns="25400" bIns="25400" rtlCol="0" anchor="ctr"/>
          <a:lstStyle/>
          <a:p>
            <a:pPr algn="ctr" indent="0" marL="0">
              <a:buNone/>
            </a:pPr>
            <a:r>
              <a:rPr lang="en-US" sz="1250" dirty="0">
                <a:solidFill>
                  <a:srgbClr val="0F172B"/>
                </a:solidFill>
                <a:latin typeface="Arial" pitchFamily="34" charset="0"/>
                <a:ea typeface="Arial" pitchFamily="34" charset="-122"/>
                <a:cs typeface="Arial" pitchFamily="34" charset="-120"/>
              </a:rPr>
              <a:t>Review and approve requests</a:t>
            </a:r>
            <a:endParaRPr lang="en-US" sz="1250" dirty="0"/>
          </a:p>
        </p:txBody>
      </p:sp>
      <p:sp>
        <p:nvSpPr>
          <p:cNvPr id="10" name="Text 8"/>
          <p:cNvSpPr/>
          <p:nvPr/>
        </p:nvSpPr>
        <p:spPr>
          <a:xfrm>
            <a:off x="3840480" y="3794760"/>
            <a:ext cx="4526280" cy="457200"/>
          </a:xfrm>
          <a:prstGeom prst="ellipse">
            <a:avLst/>
          </a:prstGeom>
          <a:solidFill>
            <a:srgbClr val="FFFFFF"/>
          </a:solidFill>
          <a:ln w="15875">
            <a:solidFill>
              <a:srgbClr val="0F172B"/>
            </a:solidFill>
          </a:ln>
        </p:spPr>
        <p:txBody>
          <a:bodyPr wrap="square" lIns="25400" tIns="25400" rIns="25400" bIns="25400" rtlCol="0" anchor="ctr"/>
          <a:lstStyle/>
          <a:p>
            <a:pPr algn="ctr" indent="0" marL="0">
              <a:buNone/>
            </a:pPr>
            <a:r>
              <a:rPr lang="en-US" sz="1250" dirty="0">
                <a:solidFill>
                  <a:srgbClr val="0F172B"/>
                </a:solidFill>
                <a:latin typeface="Arial" pitchFamily="34" charset="0"/>
                <a:ea typeface="Arial" pitchFamily="34" charset="-122"/>
                <a:cs typeface="Arial" pitchFamily="34" charset="-120"/>
              </a:rPr>
              <a:t>Correct an attendance record</a:t>
            </a:r>
            <a:endParaRPr lang="en-US" sz="1250" dirty="0"/>
          </a:p>
        </p:txBody>
      </p:sp>
      <p:sp>
        <p:nvSpPr>
          <p:cNvPr id="11" name="Text 9"/>
          <p:cNvSpPr/>
          <p:nvPr/>
        </p:nvSpPr>
        <p:spPr>
          <a:xfrm>
            <a:off x="3840480" y="4389120"/>
            <a:ext cx="4526280" cy="457200"/>
          </a:xfrm>
          <a:prstGeom prst="ellipse">
            <a:avLst/>
          </a:prstGeom>
          <a:solidFill>
            <a:srgbClr val="FFFFFF"/>
          </a:solidFill>
          <a:ln w="15875">
            <a:solidFill>
              <a:srgbClr val="0F172B"/>
            </a:solidFill>
          </a:ln>
        </p:spPr>
        <p:txBody>
          <a:bodyPr wrap="square" lIns="25400" tIns="25400" rIns="25400" bIns="25400" rtlCol="0" anchor="ctr"/>
          <a:lstStyle/>
          <a:p>
            <a:pPr algn="ctr" indent="0" marL="0">
              <a:buNone/>
            </a:pPr>
            <a:r>
              <a:rPr lang="en-US" sz="1250" dirty="0">
                <a:solidFill>
                  <a:srgbClr val="0F172B"/>
                </a:solidFill>
                <a:latin typeface="Arial" pitchFamily="34" charset="0"/>
                <a:ea typeface="Arial" pitchFamily="34" charset="-122"/>
                <a:cs typeface="Arial" pitchFamily="34" charset="-120"/>
              </a:rPr>
              <a:t>View reports, exports and AI insights</a:t>
            </a:r>
            <a:endParaRPr lang="en-US" sz="1250" dirty="0"/>
          </a:p>
        </p:txBody>
      </p:sp>
      <p:sp>
        <p:nvSpPr>
          <p:cNvPr id="12" name="Text 10"/>
          <p:cNvSpPr/>
          <p:nvPr/>
        </p:nvSpPr>
        <p:spPr>
          <a:xfrm>
            <a:off x="3840480" y="4983480"/>
            <a:ext cx="4526280" cy="457200"/>
          </a:xfrm>
          <a:prstGeom prst="ellipse">
            <a:avLst/>
          </a:prstGeom>
          <a:solidFill>
            <a:srgbClr val="FFFFFF"/>
          </a:solidFill>
          <a:ln w="15875">
            <a:solidFill>
              <a:srgbClr val="0F172B"/>
            </a:solidFill>
          </a:ln>
        </p:spPr>
        <p:txBody>
          <a:bodyPr wrap="square" lIns="25400" tIns="25400" rIns="25400" bIns="25400" rtlCol="0" anchor="ctr"/>
          <a:lstStyle/>
          <a:p>
            <a:pPr algn="ctr" indent="0" marL="0">
              <a:buNone/>
            </a:pPr>
            <a:r>
              <a:rPr lang="en-US" sz="1250" dirty="0">
                <a:solidFill>
                  <a:srgbClr val="0F172B"/>
                </a:solidFill>
                <a:latin typeface="Arial" pitchFamily="34" charset="0"/>
                <a:ea typeface="Arial" pitchFamily="34" charset="-122"/>
                <a:cs typeface="Arial" pitchFamily="34" charset="-120"/>
              </a:rPr>
              <a:t>Manage employees and departments</a:t>
            </a:r>
            <a:endParaRPr lang="en-US" sz="1250" dirty="0"/>
          </a:p>
        </p:txBody>
      </p:sp>
      <p:sp>
        <p:nvSpPr>
          <p:cNvPr id="13" name="Text 11"/>
          <p:cNvSpPr/>
          <p:nvPr/>
        </p:nvSpPr>
        <p:spPr>
          <a:xfrm>
            <a:off x="3840480" y="5577840"/>
            <a:ext cx="4526280" cy="457200"/>
          </a:xfrm>
          <a:prstGeom prst="ellipse">
            <a:avLst/>
          </a:prstGeom>
          <a:solidFill>
            <a:srgbClr val="FFFFFF"/>
          </a:solidFill>
          <a:ln w="15875">
            <a:solidFill>
              <a:srgbClr val="0F172B"/>
            </a:solidFill>
          </a:ln>
        </p:spPr>
        <p:txBody>
          <a:bodyPr wrap="square" lIns="25400" tIns="25400" rIns="25400" bIns="25400" rtlCol="0" anchor="ctr"/>
          <a:lstStyle/>
          <a:p>
            <a:pPr algn="ctr" indent="0" marL="0">
              <a:buNone/>
            </a:pPr>
            <a:r>
              <a:rPr lang="en-US" sz="1250" dirty="0">
                <a:solidFill>
                  <a:srgbClr val="0F172B"/>
                </a:solidFill>
                <a:latin typeface="Arial" pitchFamily="34" charset="0"/>
                <a:ea typeface="Arial" pitchFamily="34" charset="-122"/>
                <a:cs typeface="Arial" pitchFamily="34" charset="-120"/>
              </a:rPr>
              <a:t>Manage devices and view the audit log</a:t>
            </a:r>
            <a:endParaRPr lang="en-US" sz="1250" dirty="0"/>
          </a:p>
        </p:txBody>
      </p:sp>
      <p:sp>
        <p:nvSpPr>
          <p:cNvPr id="14" name="Shape 12"/>
          <p:cNvSpPr/>
          <p:nvPr/>
        </p:nvSpPr>
        <p:spPr>
          <a:xfrm>
            <a:off x="1673352" y="2121408"/>
            <a:ext cx="219456" cy="219456"/>
          </a:xfrm>
          <a:prstGeom prst="ellipse">
            <a:avLst/>
          </a:prstGeom>
          <a:solidFill>
            <a:srgbClr val="FFFFFF"/>
          </a:solidFill>
          <a:ln w="19050">
            <a:solidFill>
              <a:srgbClr val="0F172B"/>
            </a:solidFill>
            <a:prstDash val="solid"/>
          </a:ln>
        </p:spPr>
      </p:sp>
      <p:sp>
        <p:nvSpPr>
          <p:cNvPr id="15" name="Shape 13"/>
          <p:cNvSpPr/>
          <p:nvPr/>
        </p:nvSpPr>
        <p:spPr>
          <a:xfrm>
            <a:off x="1783080" y="2340864"/>
            <a:ext cx="0" cy="420624"/>
          </a:xfrm>
          <a:prstGeom prst="line">
            <a:avLst/>
          </a:prstGeom>
          <a:noFill/>
          <a:ln w="19050">
            <a:solidFill>
              <a:srgbClr val="0F172B"/>
            </a:solidFill>
            <a:prstDash val="solid"/>
          </a:ln>
        </p:spPr>
      </p:sp>
      <p:sp>
        <p:nvSpPr>
          <p:cNvPr id="16" name="Shape 14"/>
          <p:cNvSpPr/>
          <p:nvPr/>
        </p:nvSpPr>
        <p:spPr>
          <a:xfrm>
            <a:off x="1545336" y="2459736"/>
            <a:ext cx="475488" cy="0"/>
          </a:xfrm>
          <a:prstGeom prst="line">
            <a:avLst/>
          </a:prstGeom>
          <a:noFill/>
          <a:ln w="19050">
            <a:solidFill>
              <a:srgbClr val="0F172B"/>
            </a:solidFill>
            <a:prstDash val="solid"/>
          </a:ln>
        </p:spPr>
      </p:sp>
      <p:sp>
        <p:nvSpPr>
          <p:cNvPr id="17" name="Shape 15"/>
          <p:cNvSpPr/>
          <p:nvPr/>
        </p:nvSpPr>
        <p:spPr>
          <a:xfrm flipH="1">
            <a:off x="1581912" y="2761488"/>
            <a:ext cx="201168" cy="274320"/>
          </a:xfrm>
          <a:prstGeom prst="line">
            <a:avLst/>
          </a:prstGeom>
          <a:noFill/>
          <a:ln w="19050">
            <a:solidFill>
              <a:srgbClr val="0F172B"/>
            </a:solidFill>
            <a:prstDash val="solid"/>
          </a:ln>
        </p:spPr>
      </p:sp>
      <p:sp>
        <p:nvSpPr>
          <p:cNvPr id="18" name="Shape 16"/>
          <p:cNvSpPr/>
          <p:nvPr/>
        </p:nvSpPr>
        <p:spPr>
          <a:xfrm>
            <a:off x="1783080" y="2761488"/>
            <a:ext cx="201168" cy="274320"/>
          </a:xfrm>
          <a:prstGeom prst="line">
            <a:avLst/>
          </a:prstGeom>
          <a:noFill/>
          <a:ln w="19050">
            <a:solidFill>
              <a:srgbClr val="0F172B"/>
            </a:solidFill>
            <a:prstDash val="solid"/>
          </a:ln>
        </p:spPr>
      </p:sp>
      <p:sp>
        <p:nvSpPr>
          <p:cNvPr id="19" name="Text 17"/>
          <p:cNvSpPr/>
          <p:nvPr/>
        </p:nvSpPr>
        <p:spPr>
          <a:xfrm>
            <a:off x="822960" y="3081528"/>
            <a:ext cx="1920240" cy="292608"/>
          </a:xfrm>
          <a:prstGeom prst="rect">
            <a:avLst/>
          </a:prstGeom>
          <a:noFill/>
          <a:ln/>
        </p:spPr>
        <p:txBody>
          <a:bodyPr wrap="square" lIns="0" tIns="0" rIns="0" bIns="0" rtlCol="0" anchor="ctr"/>
          <a:lstStyle/>
          <a:p>
            <a:pPr algn="ctr" indent="0" marL="0">
              <a:buNone/>
            </a:pPr>
            <a:r>
              <a:rPr lang="en-US" sz="1300" b="1" dirty="0">
                <a:solidFill>
                  <a:srgbClr val="0F172B"/>
                </a:solidFill>
                <a:latin typeface="Arial" pitchFamily="34" charset="0"/>
                <a:ea typeface="Arial" pitchFamily="34" charset="-122"/>
                <a:cs typeface="Arial" pitchFamily="34" charset="-120"/>
              </a:rPr>
              <a:t>Employee</a:t>
            </a:r>
            <a:endParaRPr lang="en-US" sz="1300" dirty="0"/>
          </a:p>
        </p:txBody>
      </p:sp>
      <p:sp>
        <p:nvSpPr>
          <p:cNvPr id="20" name="Shape 18"/>
          <p:cNvSpPr/>
          <p:nvPr/>
        </p:nvSpPr>
        <p:spPr>
          <a:xfrm>
            <a:off x="10268712" y="3291840"/>
            <a:ext cx="219456" cy="219456"/>
          </a:xfrm>
          <a:prstGeom prst="ellipse">
            <a:avLst/>
          </a:prstGeom>
          <a:solidFill>
            <a:srgbClr val="FFFFFF"/>
          </a:solidFill>
          <a:ln w="19050">
            <a:solidFill>
              <a:srgbClr val="0F172B"/>
            </a:solidFill>
            <a:prstDash val="solid"/>
          </a:ln>
        </p:spPr>
      </p:sp>
      <p:sp>
        <p:nvSpPr>
          <p:cNvPr id="21" name="Shape 19"/>
          <p:cNvSpPr/>
          <p:nvPr/>
        </p:nvSpPr>
        <p:spPr>
          <a:xfrm>
            <a:off x="10378440" y="3511296"/>
            <a:ext cx="0" cy="420624"/>
          </a:xfrm>
          <a:prstGeom prst="line">
            <a:avLst/>
          </a:prstGeom>
          <a:noFill/>
          <a:ln w="19050">
            <a:solidFill>
              <a:srgbClr val="0F172B"/>
            </a:solidFill>
            <a:prstDash val="solid"/>
          </a:ln>
        </p:spPr>
      </p:sp>
      <p:sp>
        <p:nvSpPr>
          <p:cNvPr id="22" name="Shape 20"/>
          <p:cNvSpPr/>
          <p:nvPr/>
        </p:nvSpPr>
        <p:spPr>
          <a:xfrm>
            <a:off x="10140696" y="3630168"/>
            <a:ext cx="475488" cy="0"/>
          </a:xfrm>
          <a:prstGeom prst="line">
            <a:avLst/>
          </a:prstGeom>
          <a:noFill/>
          <a:ln w="19050">
            <a:solidFill>
              <a:srgbClr val="0F172B"/>
            </a:solidFill>
            <a:prstDash val="solid"/>
          </a:ln>
        </p:spPr>
      </p:sp>
      <p:sp>
        <p:nvSpPr>
          <p:cNvPr id="23" name="Shape 21"/>
          <p:cNvSpPr/>
          <p:nvPr/>
        </p:nvSpPr>
        <p:spPr>
          <a:xfrm flipH="1">
            <a:off x="10177272" y="3931920"/>
            <a:ext cx="201168" cy="274320"/>
          </a:xfrm>
          <a:prstGeom prst="line">
            <a:avLst/>
          </a:prstGeom>
          <a:noFill/>
          <a:ln w="19050">
            <a:solidFill>
              <a:srgbClr val="0F172B"/>
            </a:solidFill>
            <a:prstDash val="solid"/>
          </a:ln>
        </p:spPr>
      </p:sp>
      <p:sp>
        <p:nvSpPr>
          <p:cNvPr id="24" name="Shape 22"/>
          <p:cNvSpPr/>
          <p:nvPr/>
        </p:nvSpPr>
        <p:spPr>
          <a:xfrm>
            <a:off x="10378440" y="3931920"/>
            <a:ext cx="201168" cy="274320"/>
          </a:xfrm>
          <a:prstGeom prst="line">
            <a:avLst/>
          </a:prstGeom>
          <a:noFill/>
          <a:ln w="19050">
            <a:solidFill>
              <a:srgbClr val="0F172B"/>
            </a:solidFill>
            <a:prstDash val="solid"/>
          </a:ln>
        </p:spPr>
      </p:sp>
      <p:sp>
        <p:nvSpPr>
          <p:cNvPr id="25" name="Text 23"/>
          <p:cNvSpPr/>
          <p:nvPr/>
        </p:nvSpPr>
        <p:spPr>
          <a:xfrm>
            <a:off x="9418320" y="4251960"/>
            <a:ext cx="1920240" cy="292608"/>
          </a:xfrm>
          <a:prstGeom prst="rect">
            <a:avLst/>
          </a:prstGeom>
          <a:noFill/>
          <a:ln/>
        </p:spPr>
        <p:txBody>
          <a:bodyPr wrap="square" lIns="0" tIns="0" rIns="0" bIns="0" rtlCol="0" anchor="ctr"/>
          <a:lstStyle/>
          <a:p>
            <a:pPr algn="ctr" indent="0" marL="0">
              <a:buNone/>
            </a:pPr>
            <a:r>
              <a:rPr lang="en-US" sz="1300" b="1" dirty="0">
                <a:solidFill>
                  <a:srgbClr val="0F172B"/>
                </a:solidFill>
                <a:latin typeface="Arial" pitchFamily="34" charset="0"/>
                <a:ea typeface="Arial" pitchFamily="34" charset="-122"/>
                <a:cs typeface="Arial" pitchFamily="34" charset="-120"/>
              </a:rPr>
              <a:t>HR Officer</a:t>
            </a:r>
            <a:endParaRPr lang="en-US" sz="1300" dirty="0"/>
          </a:p>
        </p:txBody>
      </p:sp>
      <p:sp>
        <p:nvSpPr>
          <p:cNvPr id="26" name="Shape 24"/>
          <p:cNvSpPr/>
          <p:nvPr/>
        </p:nvSpPr>
        <p:spPr>
          <a:xfrm>
            <a:off x="10268712" y="4956048"/>
            <a:ext cx="219456" cy="219456"/>
          </a:xfrm>
          <a:prstGeom prst="ellipse">
            <a:avLst/>
          </a:prstGeom>
          <a:solidFill>
            <a:srgbClr val="FFFFFF"/>
          </a:solidFill>
          <a:ln w="19050">
            <a:solidFill>
              <a:srgbClr val="0F172B"/>
            </a:solidFill>
            <a:prstDash val="solid"/>
          </a:ln>
        </p:spPr>
      </p:sp>
      <p:sp>
        <p:nvSpPr>
          <p:cNvPr id="27" name="Shape 25"/>
          <p:cNvSpPr/>
          <p:nvPr/>
        </p:nvSpPr>
        <p:spPr>
          <a:xfrm>
            <a:off x="10378440" y="5175504"/>
            <a:ext cx="0" cy="420624"/>
          </a:xfrm>
          <a:prstGeom prst="line">
            <a:avLst/>
          </a:prstGeom>
          <a:noFill/>
          <a:ln w="19050">
            <a:solidFill>
              <a:srgbClr val="0F172B"/>
            </a:solidFill>
            <a:prstDash val="solid"/>
          </a:ln>
        </p:spPr>
      </p:sp>
      <p:sp>
        <p:nvSpPr>
          <p:cNvPr id="28" name="Shape 26"/>
          <p:cNvSpPr/>
          <p:nvPr/>
        </p:nvSpPr>
        <p:spPr>
          <a:xfrm>
            <a:off x="10140696" y="5294376"/>
            <a:ext cx="475488" cy="0"/>
          </a:xfrm>
          <a:prstGeom prst="line">
            <a:avLst/>
          </a:prstGeom>
          <a:noFill/>
          <a:ln w="19050">
            <a:solidFill>
              <a:srgbClr val="0F172B"/>
            </a:solidFill>
            <a:prstDash val="solid"/>
          </a:ln>
        </p:spPr>
      </p:sp>
      <p:sp>
        <p:nvSpPr>
          <p:cNvPr id="29" name="Shape 27"/>
          <p:cNvSpPr/>
          <p:nvPr/>
        </p:nvSpPr>
        <p:spPr>
          <a:xfrm flipH="1">
            <a:off x="10177272" y="5596128"/>
            <a:ext cx="201168" cy="274320"/>
          </a:xfrm>
          <a:prstGeom prst="line">
            <a:avLst/>
          </a:prstGeom>
          <a:noFill/>
          <a:ln w="19050">
            <a:solidFill>
              <a:srgbClr val="0F172B"/>
            </a:solidFill>
            <a:prstDash val="solid"/>
          </a:ln>
        </p:spPr>
      </p:sp>
      <p:sp>
        <p:nvSpPr>
          <p:cNvPr id="30" name="Shape 28"/>
          <p:cNvSpPr/>
          <p:nvPr/>
        </p:nvSpPr>
        <p:spPr>
          <a:xfrm>
            <a:off x="10378440" y="5596128"/>
            <a:ext cx="201168" cy="274320"/>
          </a:xfrm>
          <a:prstGeom prst="line">
            <a:avLst/>
          </a:prstGeom>
          <a:noFill/>
          <a:ln w="19050">
            <a:solidFill>
              <a:srgbClr val="0F172B"/>
            </a:solidFill>
            <a:prstDash val="solid"/>
          </a:ln>
        </p:spPr>
      </p:sp>
      <p:sp>
        <p:nvSpPr>
          <p:cNvPr id="31" name="Text 29"/>
          <p:cNvSpPr/>
          <p:nvPr/>
        </p:nvSpPr>
        <p:spPr>
          <a:xfrm>
            <a:off x="9418320" y="5916168"/>
            <a:ext cx="1920240" cy="292608"/>
          </a:xfrm>
          <a:prstGeom prst="rect">
            <a:avLst/>
          </a:prstGeom>
          <a:noFill/>
          <a:ln/>
        </p:spPr>
        <p:txBody>
          <a:bodyPr wrap="square" lIns="0" tIns="0" rIns="0" bIns="0" rtlCol="0" anchor="ctr"/>
          <a:lstStyle/>
          <a:p>
            <a:pPr algn="ctr" indent="0" marL="0">
              <a:buNone/>
            </a:pPr>
            <a:r>
              <a:rPr lang="en-US" sz="1300" b="1" dirty="0">
                <a:solidFill>
                  <a:srgbClr val="0F172B"/>
                </a:solidFill>
                <a:latin typeface="Arial" pitchFamily="34" charset="0"/>
                <a:ea typeface="Arial" pitchFamily="34" charset="-122"/>
                <a:cs typeface="Arial" pitchFamily="34" charset="-120"/>
              </a:rPr>
              <a:t>Administrator</a:t>
            </a:r>
            <a:endParaRPr lang="en-US" sz="1300" dirty="0"/>
          </a:p>
        </p:txBody>
      </p:sp>
      <p:sp>
        <p:nvSpPr>
          <p:cNvPr id="32" name="Shape 30"/>
          <p:cNvSpPr/>
          <p:nvPr/>
        </p:nvSpPr>
        <p:spPr>
          <a:xfrm flipV="1">
            <a:off x="2020824" y="2240280"/>
            <a:ext cx="1819656" cy="338328"/>
          </a:xfrm>
          <a:prstGeom prst="line">
            <a:avLst/>
          </a:prstGeom>
          <a:noFill/>
          <a:ln w="13970">
            <a:solidFill>
              <a:srgbClr val="64748B"/>
            </a:solidFill>
            <a:prstDash val="solid"/>
          </a:ln>
        </p:spPr>
      </p:sp>
      <p:sp>
        <p:nvSpPr>
          <p:cNvPr id="33" name="Shape 31"/>
          <p:cNvSpPr/>
          <p:nvPr/>
        </p:nvSpPr>
        <p:spPr>
          <a:xfrm>
            <a:off x="2020824" y="2578608"/>
            <a:ext cx="1819656" cy="256032"/>
          </a:xfrm>
          <a:prstGeom prst="line">
            <a:avLst/>
          </a:prstGeom>
          <a:noFill/>
          <a:ln w="13970">
            <a:solidFill>
              <a:srgbClr val="64748B"/>
            </a:solidFill>
            <a:prstDash val="solid"/>
          </a:ln>
        </p:spPr>
      </p:sp>
      <p:sp>
        <p:nvSpPr>
          <p:cNvPr id="34" name="Shape 32"/>
          <p:cNvSpPr/>
          <p:nvPr/>
        </p:nvSpPr>
        <p:spPr>
          <a:xfrm>
            <a:off x="8366760" y="3429000"/>
            <a:ext cx="1773936" cy="320040"/>
          </a:xfrm>
          <a:prstGeom prst="line">
            <a:avLst/>
          </a:prstGeom>
          <a:noFill/>
          <a:ln w="13970">
            <a:solidFill>
              <a:srgbClr val="64748B"/>
            </a:solidFill>
            <a:prstDash val="solid"/>
          </a:ln>
        </p:spPr>
      </p:sp>
      <p:sp>
        <p:nvSpPr>
          <p:cNvPr id="35" name="Shape 33"/>
          <p:cNvSpPr/>
          <p:nvPr/>
        </p:nvSpPr>
        <p:spPr>
          <a:xfrm flipV="1">
            <a:off x="8366760" y="3749040"/>
            <a:ext cx="1773936" cy="274320"/>
          </a:xfrm>
          <a:prstGeom prst="line">
            <a:avLst/>
          </a:prstGeom>
          <a:noFill/>
          <a:ln w="13970">
            <a:solidFill>
              <a:srgbClr val="64748B"/>
            </a:solidFill>
            <a:prstDash val="solid"/>
          </a:ln>
        </p:spPr>
      </p:sp>
      <p:sp>
        <p:nvSpPr>
          <p:cNvPr id="36" name="Shape 34"/>
          <p:cNvSpPr/>
          <p:nvPr/>
        </p:nvSpPr>
        <p:spPr>
          <a:xfrm flipV="1">
            <a:off x="8366760" y="3749040"/>
            <a:ext cx="1773936" cy="868680"/>
          </a:xfrm>
          <a:prstGeom prst="line">
            <a:avLst/>
          </a:prstGeom>
          <a:noFill/>
          <a:ln w="13970">
            <a:solidFill>
              <a:srgbClr val="64748B"/>
            </a:solidFill>
            <a:prstDash val="solid"/>
          </a:ln>
        </p:spPr>
      </p:sp>
      <p:sp>
        <p:nvSpPr>
          <p:cNvPr id="37" name="Shape 35"/>
          <p:cNvSpPr/>
          <p:nvPr/>
        </p:nvSpPr>
        <p:spPr>
          <a:xfrm>
            <a:off x="8366760" y="5212080"/>
            <a:ext cx="1773936" cy="201168"/>
          </a:xfrm>
          <a:prstGeom prst="line">
            <a:avLst/>
          </a:prstGeom>
          <a:noFill/>
          <a:ln w="13970">
            <a:solidFill>
              <a:srgbClr val="64748B"/>
            </a:solidFill>
            <a:prstDash val="solid"/>
          </a:ln>
        </p:spPr>
      </p:sp>
      <p:sp>
        <p:nvSpPr>
          <p:cNvPr id="38" name="Shape 36"/>
          <p:cNvSpPr/>
          <p:nvPr/>
        </p:nvSpPr>
        <p:spPr>
          <a:xfrm flipV="1">
            <a:off x="8366760" y="5413248"/>
            <a:ext cx="1773936" cy="393192"/>
          </a:xfrm>
          <a:prstGeom prst="line">
            <a:avLst/>
          </a:prstGeom>
          <a:noFill/>
          <a:ln w="13970">
            <a:solidFill>
              <a:srgbClr val="64748B"/>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Functional Requirements (1 of 2)</a:t>
            </a:r>
            <a:endParaRPr lang="en-US" sz="3200" dirty="0"/>
          </a:p>
        </p:txBody>
      </p:sp>
      <p:sp>
        <p:nvSpPr>
          <p:cNvPr id="4" name="Text 2"/>
          <p:cNvSpPr/>
          <p:nvPr/>
        </p:nvSpPr>
        <p:spPr>
          <a:xfrm>
            <a:off x="1133856" y="1005840"/>
            <a:ext cx="10369296" cy="329184"/>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Ten in total — capture, computation and the permission workflow</a:t>
            </a:r>
            <a:endParaRPr lang="en-US" sz="1600" dirty="0"/>
          </a:p>
        </p:txBody>
      </p:sp>
      <p:sp>
        <p:nvSpPr>
          <p:cNvPr id="5" name="Shape 3"/>
          <p:cNvSpPr/>
          <p:nvPr/>
        </p:nvSpPr>
        <p:spPr>
          <a:xfrm>
            <a:off x="905256" y="1993392"/>
            <a:ext cx="146304" cy="146304"/>
          </a:xfrm>
          <a:prstGeom prst="rect">
            <a:avLst/>
          </a:prstGeom>
          <a:solidFill>
            <a:srgbClr val="147A4C"/>
          </a:solidFill>
          <a:ln w="12700">
            <a:solidFill>
              <a:srgbClr val="147A4C"/>
            </a:solidFill>
            <a:prstDash val="solid"/>
          </a:ln>
        </p:spPr>
      </p:sp>
      <p:sp>
        <p:nvSpPr>
          <p:cNvPr id="6" name="Text 4"/>
          <p:cNvSpPr/>
          <p:nvPr/>
        </p:nvSpPr>
        <p:spPr>
          <a:xfrm>
            <a:off x="1252728" y="1874520"/>
            <a:ext cx="10067544" cy="96012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FR1 and FR2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Punches are retrieved from terminals of more than one vendor through one interface, duplicates are rejected, and each working day is computed as Present, Late or Absent against the employee’s schedule and grace period.</a:t>
            </a:r>
            <a:endParaRPr lang="en-US" sz="2000" dirty="0"/>
          </a:p>
        </p:txBody>
      </p:sp>
      <p:sp>
        <p:nvSpPr>
          <p:cNvPr id="7" name="Shape 5"/>
          <p:cNvSpPr/>
          <p:nvPr/>
        </p:nvSpPr>
        <p:spPr>
          <a:xfrm>
            <a:off x="905256" y="3246120"/>
            <a:ext cx="146304" cy="146304"/>
          </a:xfrm>
          <a:prstGeom prst="rect">
            <a:avLst/>
          </a:prstGeom>
          <a:solidFill>
            <a:srgbClr val="147A4C"/>
          </a:solidFill>
          <a:ln w="12700">
            <a:solidFill>
              <a:srgbClr val="147A4C"/>
            </a:solidFill>
            <a:prstDash val="solid"/>
          </a:ln>
        </p:spPr>
      </p:sp>
      <p:sp>
        <p:nvSpPr>
          <p:cNvPr id="8" name="Text 6"/>
          <p:cNvSpPr/>
          <p:nvPr/>
        </p:nvSpPr>
        <p:spPr>
          <a:xfrm>
            <a:off x="1252728" y="3127248"/>
            <a:ext cx="10067544" cy="96012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FR3 and FR4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An employee submits a request stating type, dates, reason and attachment; an officer approves or rejects it, and the reviewer, the decision and the time are recorded.</a:t>
            </a:r>
            <a:endParaRPr lang="en-US" sz="2000" dirty="0"/>
          </a:p>
        </p:txBody>
      </p:sp>
      <p:sp>
        <p:nvSpPr>
          <p:cNvPr id="9" name="Shape 7"/>
          <p:cNvSpPr/>
          <p:nvPr/>
        </p:nvSpPr>
        <p:spPr>
          <a:xfrm>
            <a:off x="905256" y="4498848"/>
            <a:ext cx="146304" cy="146304"/>
          </a:xfrm>
          <a:prstGeom prst="rect">
            <a:avLst/>
          </a:prstGeom>
          <a:solidFill>
            <a:srgbClr val="147A4C"/>
          </a:solidFill>
          <a:ln w="12700">
            <a:solidFill>
              <a:srgbClr val="147A4C"/>
            </a:solidFill>
            <a:prstDash val="solid"/>
          </a:ln>
        </p:spPr>
      </p:sp>
      <p:sp>
        <p:nvSpPr>
          <p:cNvPr id="10" name="Text 8"/>
          <p:cNvSpPr/>
          <p:nvPr/>
        </p:nvSpPr>
        <p:spPr>
          <a:xfrm>
            <a:off x="1252728" y="4379976"/>
            <a:ext cx="10067544" cy="96012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FR5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On approval, every attendance record inside the approved range is updated to the matching leave status, including for dates that have already passed.</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Functional Requirements (2 of 2)</a:t>
            </a:r>
            <a:endParaRPr lang="en-US" sz="3200" dirty="0"/>
          </a:p>
        </p:txBody>
      </p:sp>
      <p:sp>
        <p:nvSpPr>
          <p:cNvPr id="4" name="Text 2"/>
          <p:cNvSpPr/>
          <p:nvPr/>
        </p:nvSpPr>
        <p:spPr>
          <a:xfrm>
            <a:off x="1133856" y="1005840"/>
            <a:ext cx="10369296" cy="329184"/>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Synchronisation, analysis and reporting</a:t>
            </a:r>
            <a:endParaRPr lang="en-US" sz="1600" dirty="0"/>
          </a:p>
        </p:txBody>
      </p:sp>
      <p:sp>
        <p:nvSpPr>
          <p:cNvPr id="5" name="Shape 3"/>
          <p:cNvSpPr/>
          <p:nvPr/>
        </p:nvSpPr>
        <p:spPr>
          <a:xfrm>
            <a:off x="905256" y="1993392"/>
            <a:ext cx="146304" cy="146304"/>
          </a:xfrm>
          <a:prstGeom prst="rect">
            <a:avLst/>
          </a:prstGeom>
          <a:solidFill>
            <a:srgbClr val="147A4C"/>
          </a:solidFill>
          <a:ln w="12700">
            <a:solidFill>
              <a:srgbClr val="147A4C"/>
            </a:solidFill>
            <a:prstDash val="solid"/>
          </a:ln>
        </p:spPr>
      </p:sp>
      <p:sp>
        <p:nvSpPr>
          <p:cNvPr id="6" name="Text 4"/>
          <p:cNvSpPr/>
          <p:nvPr/>
        </p:nvSpPr>
        <p:spPr>
          <a:xfrm>
            <a:off x="1252728" y="1874520"/>
            <a:ext cx="10067544" cy="96012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FR6 and FR7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A day carrying a manual correction or a real punch is never overwritten, and every automatic change to an attendance record writes an audit entry.</a:t>
            </a:r>
            <a:endParaRPr lang="en-US" sz="2000" dirty="0"/>
          </a:p>
        </p:txBody>
      </p:sp>
      <p:sp>
        <p:nvSpPr>
          <p:cNvPr id="7" name="Shape 5"/>
          <p:cNvSpPr/>
          <p:nvPr/>
        </p:nvSpPr>
        <p:spPr>
          <a:xfrm>
            <a:off x="905256" y="3246120"/>
            <a:ext cx="146304" cy="146304"/>
          </a:xfrm>
          <a:prstGeom prst="rect">
            <a:avLst/>
          </a:prstGeom>
          <a:solidFill>
            <a:srgbClr val="147A4C"/>
          </a:solidFill>
          <a:ln w="12700">
            <a:solidFill>
              <a:srgbClr val="147A4C"/>
            </a:solidFill>
            <a:prstDash val="solid"/>
          </a:ln>
        </p:spPr>
      </p:sp>
      <p:sp>
        <p:nvSpPr>
          <p:cNvPr id="8" name="Text 6"/>
          <p:cNvSpPr/>
          <p:nvPr/>
        </p:nvSpPr>
        <p:spPr>
          <a:xfrm>
            <a:off x="1252728" y="3127248"/>
            <a:ext cx="10067544" cy="96012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FR8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Anomalous days are flagged with a plain-language explanation, and each employee carries a risk score, a risk band and the factors that contributed to it.</a:t>
            </a:r>
            <a:endParaRPr lang="en-US" sz="2000" dirty="0"/>
          </a:p>
        </p:txBody>
      </p:sp>
      <p:sp>
        <p:nvSpPr>
          <p:cNvPr id="9" name="Shape 7"/>
          <p:cNvSpPr/>
          <p:nvPr/>
        </p:nvSpPr>
        <p:spPr>
          <a:xfrm>
            <a:off x="905256" y="4498848"/>
            <a:ext cx="146304" cy="146304"/>
          </a:xfrm>
          <a:prstGeom prst="rect">
            <a:avLst/>
          </a:prstGeom>
          <a:solidFill>
            <a:srgbClr val="147A4C"/>
          </a:solidFill>
          <a:ln w="12700">
            <a:solidFill>
              <a:srgbClr val="147A4C"/>
            </a:solidFill>
            <a:prstDash val="solid"/>
          </a:ln>
        </p:spPr>
      </p:sp>
      <p:sp>
        <p:nvSpPr>
          <p:cNvPr id="10" name="Text 8"/>
          <p:cNvSpPr/>
          <p:nvPr/>
        </p:nvSpPr>
        <p:spPr>
          <a:xfrm>
            <a:off x="1252728" y="4379976"/>
            <a:ext cx="10067544" cy="96012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FR9 and FR10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A monthly narrative summary is generated from aggregate statistics, users are notified of submissions and decisions, and reports export as CSV and PDF with every function restricted to the roles allowed to use it.</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Non-Functional Requirements</a:t>
            </a:r>
            <a:endParaRPr lang="en-US" sz="3200" dirty="0"/>
          </a:p>
        </p:txBody>
      </p:sp>
      <p:sp>
        <p:nvSpPr>
          <p:cNvPr id="4" name="Text 2"/>
          <p:cNvSpPr/>
          <p:nvPr/>
        </p:nvSpPr>
        <p:spPr>
          <a:xfrm>
            <a:off x="1133856" y="1005840"/>
            <a:ext cx="10369296" cy="329184"/>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Eight in total, across five categories</a:t>
            </a:r>
            <a:endParaRPr lang="en-US" sz="1600" dirty="0"/>
          </a:p>
        </p:txBody>
      </p:sp>
      <p:sp>
        <p:nvSpPr>
          <p:cNvPr id="5" name="Shape 3"/>
          <p:cNvSpPr/>
          <p:nvPr/>
        </p:nvSpPr>
        <p:spPr>
          <a:xfrm>
            <a:off x="905256" y="1947672"/>
            <a:ext cx="146304" cy="146304"/>
          </a:xfrm>
          <a:prstGeom prst="rect">
            <a:avLst/>
          </a:prstGeom>
          <a:solidFill>
            <a:srgbClr val="147A4C"/>
          </a:solidFill>
          <a:ln w="12700">
            <a:solidFill>
              <a:srgbClr val="147A4C"/>
            </a:solidFill>
            <a:prstDash val="solid"/>
          </a:ln>
        </p:spPr>
      </p:sp>
      <p:sp>
        <p:nvSpPr>
          <p:cNvPr id="6" name="Text 4"/>
          <p:cNvSpPr/>
          <p:nvPr/>
        </p:nvSpPr>
        <p:spPr>
          <a:xfrm>
            <a:off x="1252728" y="1828800"/>
            <a:ext cx="10067544" cy="73152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Correctness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Synchronisation is idempotent: repeating it over the same approval changes nothing and writes no duplicate audit entry.</a:t>
            </a:r>
            <a:endParaRPr lang="en-US" sz="2000" dirty="0"/>
          </a:p>
        </p:txBody>
      </p:sp>
      <p:sp>
        <p:nvSpPr>
          <p:cNvPr id="7" name="Shape 5"/>
          <p:cNvSpPr/>
          <p:nvPr/>
        </p:nvSpPr>
        <p:spPr>
          <a:xfrm>
            <a:off x="905256" y="2880360"/>
            <a:ext cx="146304" cy="146304"/>
          </a:xfrm>
          <a:prstGeom prst="rect">
            <a:avLst/>
          </a:prstGeom>
          <a:solidFill>
            <a:srgbClr val="147A4C"/>
          </a:solidFill>
          <a:ln w="12700">
            <a:solidFill>
              <a:srgbClr val="147A4C"/>
            </a:solidFill>
            <a:prstDash val="solid"/>
          </a:ln>
        </p:spPr>
      </p:sp>
      <p:sp>
        <p:nvSpPr>
          <p:cNvPr id="8" name="Text 6"/>
          <p:cNvSpPr/>
          <p:nvPr/>
        </p:nvSpPr>
        <p:spPr>
          <a:xfrm>
            <a:off x="1252728" y="2761488"/>
            <a:ext cx="10067544" cy="73152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Reliability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Failure of the analysis service degrades insight only. Capture, computation, approval and reporting keep working.</a:t>
            </a:r>
            <a:endParaRPr lang="en-US" sz="2000" dirty="0"/>
          </a:p>
        </p:txBody>
      </p:sp>
      <p:sp>
        <p:nvSpPr>
          <p:cNvPr id="9" name="Shape 7"/>
          <p:cNvSpPr/>
          <p:nvPr/>
        </p:nvSpPr>
        <p:spPr>
          <a:xfrm>
            <a:off x="905256" y="3813048"/>
            <a:ext cx="146304" cy="146304"/>
          </a:xfrm>
          <a:prstGeom prst="rect">
            <a:avLst/>
          </a:prstGeom>
          <a:solidFill>
            <a:srgbClr val="147A4C"/>
          </a:solidFill>
          <a:ln w="12700">
            <a:solidFill>
              <a:srgbClr val="147A4C"/>
            </a:solidFill>
            <a:prstDash val="solid"/>
          </a:ln>
        </p:spPr>
      </p:sp>
      <p:sp>
        <p:nvSpPr>
          <p:cNvPr id="10" name="Text 8"/>
          <p:cNvSpPr/>
          <p:nvPr/>
        </p:nvSpPr>
        <p:spPr>
          <a:xfrm>
            <a:off x="1252728" y="3694176"/>
            <a:ext cx="10067544" cy="73152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Security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Every request crossing a service boundary carries a verified shared secret, and every route enforces an explicit authorisation policy.</a:t>
            </a:r>
            <a:endParaRPr lang="en-US" sz="2000" dirty="0"/>
          </a:p>
        </p:txBody>
      </p:sp>
      <p:sp>
        <p:nvSpPr>
          <p:cNvPr id="11" name="Shape 9"/>
          <p:cNvSpPr/>
          <p:nvPr/>
        </p:nvSpPr>
        <p:spPr>
          <a:xfrm>
            <a:off x="905256" y="4745736"/>
            <a:ext cx="146304" cy="146304"/>
          </a:xfrm>
          <a:prstGeom prst="rect">
            <a:avLst/>
          </a:prstGeom>
          <a:solidFill>
            <a:srgbClr val="147A4C"/>
          </a:solidFill>
          <a:ln w="12700">
            <a:solidFill>
              <a:srgbClr val="147A4C"/>
            </a:solidFill>
            <a:prstDash val="solid"/>
          </a:ln>
        </p:spPr>
      </p:sp>
      <p:sp>
        <p:nvSpPr>
          <p:cNvPr id="12" name="Text 10"/>
          <p:cNvSpPr/>
          <p:nvPr/>
        </p:nvSpPr>
        <p:spPr>
          <a:xfrm>
            <a:off x="1252728" y="4626864"/>
            <a:ext cx="10067544" cy="73152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Privacy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Biometric templates never leave the terminal, and no personal data is sent to the external language model.</a:t>
            </a:r>
            <a:endParaRPr lang="en-US" sz="2000" dirty="0"/>
          </a:p>
        </p:txBody>
      </p:sp>
      <p:sp>
        <p:nvSpPr>
          <p:cNvPr id="13" name="Shape 11"/>
          <p:cNvSpPr/>
          <p:nvPr/>
        </p:nvSpPr>
        <p:spPr>
          <a:xfrm>
            <a:off x="905256" y="5678424"/>
            <a:ext cx="146304" cy="146304"/>
          </a:xfrm>
          <a:prstGeom prst="rect">
            <a:avLst/>
          </a:prstGeom>
          <a:solidFill>
            <a:srgbClr val="147A4C"/>
          </a:solidFill>
          <a:ln w="12700">
            <a:solidFill>
              <a:srgbClr val="147A4C"/>
            </a:solidFill>
            <a:prstDash val="solid"/>
          </a:ln>
        </p:spPr>
      </p:sp>
      <p:sp>
        <p:nvSpPr>
          <p:cNvPr id="14" name="Text 12"/>
          <p:cNvSpPr/>
          <p:nvPr/>
        </p:nvSpPr>
        <p:spPr>
          <a:xfrm>
            <a:off x="1252728" y="5559552"/>
            <a:ext cx="10067544" cy="73152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Auditability and explainability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Every automatic change is recoverable from the audit log, and every machine learning output shown to a user carries the reason for it.</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Flow Chart — How the System Works</a:t>
            </a:r>
            <a:endParaRPr lang="en-US" sz="3200" dirty="0"/>
          </a:p>
        </p:txBody>
      </p:sp>
      <p:sp>
        <p:nvSpPr>
          <p:cNvPr id="4" name="Text 2"/>
          <p:cNvSpPr/>
          <p:nvPr/>
        </p:nvSpPr>
        <p:spPr>
          <a:xfrm>
            <a:off x="1133856" y="1005840"/>
            <a:ext cx="10369296" cy="329184"/>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From a punch at the terminal to a corrected record the whole institution can use</a:t>
            </a:r>
            <a:endParaRPr lang="en-US" sz="1600" dirty="0"/>
          </a:p>
        </p:txBody>
      </p:sp>
      <p:sp>
        <p:nvSpPr>
          <p:cNvPr id="5" name="Text 3"/>
          <p:cNvSpPr/>
          <p:nvPr/>
        </p:nvSpPr>
        <p:spPr>
          <a:xfrm>
            <a:off x="777240" y="1517904"/>
            <a:ext cx="4160520" cy="530352"/>
          </a:xfrm>
          <a:prstGeom prst="roundRect">
            <a:avLst>
              <a:gd name="adj" fmla="val 17241"/>
            </a:avLst>
          </a:prstGeom>
          <a:solidFill>
            <a:srgbClr val="EAF6EF"/>
          </a:solidFill>
          <a:ln w="15875">
            <a:solidFill>
              <a:srgbClr val="0F172B"/>
            </a:solidFill>
            <a:prstDash val="solid"/>
          </a:ln>
        </p:spPr>
        <p:txBody>
          <a:bodyPr wrap="square" lIns="38100" tIns="38100" rIns="38100" bIns="38100" rtlCol="0" anchor="ctr"/>
          <a:lstStyle/>
          <a:p>
            <a:pPr algn="ctr" indent="0" marL="0">
              <a:buNone/>
            </a:pPr>
            <a:r>
              <a:rPr lang="en-US" sz="1350" dirty="0">
                <a:solidFill>
                  <a:srgbClr val="0F172B"/>
                </a:solidFill>
                <a:latin typeface="Arial" pitchFamily="34" charset="0"/>
                <a:ea typeface="Arial" pitchFamily="34" charset="-122"/>
                <a:cs typeface="Arial" pitchFamily="34" charset="-120"/>
              </a:rPr>
              <a:t>Employee signs in at a biometric terminal</a:t>
            </a:r>
            <a:endParaRPr lang="en-US" sz="1350" dirty="0"/>
          </a:p>
        </p:txBody>
      </p:sp>
      <p:sp>
        <p:nvSpPr>
          <p:cNvPr id="6" name="Text 4"/>
          <p:cNvSpPr/>
          <p:nvPr/>
        </p:nvSpPr>
        <p:spPr>
          <a:xfrm>
            <a:off x="777240" y="2249424"/>
            <a:ext cx="4160520" cy="530352"/>
          </a:xfrm>
          <a:prstGeom prst="rect">
            <a:avLst/>
          </a:prstGeom>
          <a:solidFill>
            <a:srgbClr val="FFFFFF"/>
          </a:solidFill>
          <a:ln w="15875">
            <a:solidFill>
              <a:srgbClr val="0F172B"/>
            </a:solidFill>
            <a:prstDash val="solid"/>
          </a:ln>
        </p:spPr>
        <p:txBody>
          <a:bodyPr wrap="square" lIns="38100" tIns="38100" rIns="38100" bIns="38100" rtlCol="0" anchor="ctr"/>
          <a:lstStyle/>
          <a:p>
            <a:pPr algn="ctr" indent="0" marL="0">
              <a:buNone/>
            </a:pPr>
            <a:r>
              <a:rPr lang="en-US" sz="1350" dirty="0">
                <a:solidFill>
                  <a:srgbClr val="0F172B"/>
                </a:solidFill>
                <a:latin typeface="Arial" pitchFamily="34" charset="0"/>
                <a:ea typeface="Arial" pitchFamily="34" charset="-122"/>
                <a:cs typeface="Arial" pitchFamily="34" charset="-120"/>
              </a:rPr>
              <a:t>The adapter pushes the punch;</a:t>
            </a:r>
            <a:endParaRPr lang="en-US" sz="1350" dirty="0"/>
          </a:p>
          <a:p>
            <a:pPr algn="ctr" indent="0" marL="0">
              <a:buNone/>
            </a:pPr>
            <a:r>
              <a:rPr lang="en-US" sz="1350" dirty="0">
                <a:solidFill>
                  <a:srgbClr val="0F172B"/>
                </a:solidFill>
                <a:latin typeface="Arial" pitchFamily="34" charset="0"/>
                <a:ea typeface="Arial" pitchFamily="34" charset="-122"/>
                <a:cs typeface="Arial" pitchFamily="34" charset="-120"/>
              </a:rPr>
              <a:t>duplicates are rejected</a:t>
            </a:r>
            <a:endParaRPr lang="en-US" sz="1350" dirty="0"/>
          </a:p>
        </p:txBody>
      </p:sp>
      <p:sp>
        <p:nvSpPr>
          <p:cNvPr id="7" name="Text 5"/>
          <p:cNvSpPr/>
          <p:nvPr/>
        </p:nvSpPr>
        <p:spPr>
          <a:xfrm>
            <a:off x="777240" y="2980944"/>
            <a:ext cx="4160520" cy="530352"/>
          </a:xfrm>
          <a:prstGeom prst="rect">
            <a:avLst/>
          </a:prstGeom>
          <a:solidFill>
            <a:srgbClr val="FFFFFF"/>
          </a:solidFill>
          <a:ln w="15875">
            <a:solidFill>
              <a:srgbClr val="0F172B"/>
            </a:solidFill>
            <a:prstDash val="solid"/>
          </a:ln>
        </p:spPr>
        <p:txBody>
          <a:bodyPr wrap="square" lIns="38100" tIns="38100" rIns="38100" bIns="38100" rtlCol="0" anchor="ctr"/>
          <a:lstStyle/>
          <a:p>
            <a:pPr algn="ctr" indent="0" marL="0">
              <a:buNone/>
            </a:pPr>
            <a:r>
              <a:rPr lang="en-US" sz="1350" dirty="0">
                <a:solidFill>
                  <a:srgbClr val="0F172B"/>
                </a:solidFill>
                <a:latin typeface="Arial" pitchFamily="34" charset="0"/>
                <a:ea typeface="Arial" pitchFamily="34" charset="-122"/>
                <a:cs typeface="Arial" pitchFamily="34" charset="-120"/>
              </a:rPr>
              <a:t>The day is computed — Present, Late or Absent</a:t>
            </a:r>
            <a:endParaRPr lang="en-US" sz="1350" dirty="0"/>
          </a:p>
        </p:txBody>
      </p:sp>
      <p:sp>
        <p:nvSpPr>
          <p:cNvPr id="8" name="Shape 6"/>
          <p:cNvSpPr/>
          <p:nvPr/>
        </p:nvSpPr>
        <p:spPr>
          <a:xfrm>
            <a:off x="2857500" y="2048256"/>
            <a:ext cx="0" cy="201168"/>
          </a:xfrm>
          <a:prstGeom prst="line">
            <a:avLst/>
          </a:prstGeom>
          <a:noFill/>
          <a:ln w="15875">
            <a:solidFill>
              <a:srgbClr val="0F172B"/>
            </a:solidFill>
            <a:prstDash val="solid"/>
            <a:headEnd type="none"/>
            <a:tailEnd type="triangle"/>
          </a:ln>
        </p:spPr>
      </p:sp>
      <p:sp>
        <p:nvSpPr>
          <p:cNvPr id="9" name="Shape 7"/>
          <p:cNvSpPr/>
          <p:nvPr/>
        </p:nvSpPr>
        <p:spPr>
          <a:xfrm>
            <a:off x="2857500" y="2779776"/>
            <a:ext cx="0" cy="201168"/>
          </a:xfrm>
          <a:prstGeom prst="line">
            <a:avLst/>
          </a:prstGeom>
          <a:noFill/>
          <a:ln w="15875">
            <a:solidFill>
              <a:srgbClr val="0F172B"/>
            </a:solidFill>
            <a:prstDash val="solid"/>
            <a:headEnd type="none"/>
            <a:tailEnd type="triangle"/>
          </a:ln>
        </p:spPr>
      </p:sp>
      <p:sp>
        <p:nvSpPr>
          <p:cNvPr id="10" name="Text 8"/>
          <p:cNvSpPr/>
          <p:nvPr/>
        </p:nvSpPr>
        <p:spPr>
          <a:xfrm>
            <a:off x="7251192" y="1517904"/>
            <a:ext cx="4160520" cy="530352"/>
          </a:xfrm>
          <a:prstGeom prst="roundRect">
            <a:avLst>
              <a:gd name="adj" fmla="val 17241"/>
            </a:avLst>
          </a:prstGeom>
          <a:solidFill>
            <a:srgbClr val="EAF6EF"/>
          </a:solidFill>
          <a:ln w="15875">
            <a:solidFill>
              <a:srgbClr val="0F172B"/>
            </a:solidFill>
            <a:prstDash val="solid"/>
          </a:ln>
        </p:spPr>
        <p:txBody>
          <a:bodyPr wrap="square" lIns="38100" tIns="38100" rIns="38100" bIns="38100" rtlCol="0" anchor="ctr"/>
          <a:lstStyle/>
          <a:p>
            <a:pPr algn="ctr" indent="0" marL="0">
              <a:buNone/>
            </a:pPr>
            <a:r>
              <a:rPr lang="en-US" sz="1350" dirty="0">
                <a:solidFill>
                  <a:srgbClr val="0F172B"/>
                </a:solidFill>
                <a:latin typeface="Arial" pitchFamily="34" charset="0"/>
                <a:ea typeface="Arial" pitchFamily="34" charset="-122"/>
                <a:cs typeface="Arial" pitchFamily="34" charset="-120"/>
              </a:rPr>
              <a:t>Employee submits a permission or leave request</a:t>
            </a:r>
            <a:endParaRPr lang="en-US" sz="1350" dirty="0"/>
          </a:p>
        </p:txBody>
      </p:sp>
      <p:sp>
        <p:nvSpPr>
          <p:cNvPr id="11" name="Text 9"/>
          <p:cNvSpPr/>
          <p:nvPr/>
        </p:nvSpPr>
        <p:spPr>
          <a:xfrm>
            <a:off x="7251192" y="2249424"/>
            <a:ext cx="4160520" cy="530352"/>
          </a:xfrm>
          <a:prstGeom prst="rect">
            <a:avLst/>
          </a:prstGeom>
          <a:solidFill>
            <a:srgbClr val="FFFFFF"/>
          </a:solidFill>
          <a:ln w="15875">
            <a:solidFill>
              <a:srgbClr val="0F172B"/>
            </a:solidFill>
            <a:prstDash val="solid"/>
          </a:ln>
        </p:spPr>
        <p:txBody>
          <a:bodyPr wrap="square" lIns="38100" tIns="38100" rIns="38100" bIns="38100" rtlCol="0" anchor="ctr"/>
          <a:lstStyle/>
          <a:p>
            <a:pPr algn="ctr" indent="0" marL="0">
              <a:buNone/>
            </a:pPr>
            <a:r>
              <a:rPr lang="en-US" sz="1350" dirty="0">
                <a:solidFill>
                  <a:srgbClr val="0F172B"/>
                </a:solidFill>
                <a:latin typeface="Arial" pitchFamily="34" charset="0"/>
                <a:ea typeface="Arial" pitchFamily="34" charset="-122"/>
                <a:cs typeface="Arial" pitchFamily="34" charset="-120"/>
              </a:rPr>
              <a:t>An HR Officer reviews the request</a:t>
            </a:r>
            <a:endParaRPr lang="en-US" sz="1350" dirty="0"/>
          </a:p>
        </p:txBody>
      </p:sp>
      <p:sp>
        <p:nvSpPr>
          <p:cNvPr id="12" name="Text 10"/>
          <p:cNvSpPr/>
          <p:nvPr/>
        </p:nvSpPr>
        <p:spPr>
          <a:xfrm>
            <a:off x="7251192" y="2926080"/>
            <a:ext cx="4160520" cy="658368"/>
          </a:xfrm>
          <a:prstGeom prst="diamond">
            <a:avLst/>
          </a:prstGeom>
          <a:solidFill>
            <a:srgbClr val="FFFFFF"/>
          </a:solidFill>
          <a:ln w="19050">
            <a:solidFill>
              <a:srgbClr val="147A4C"/>
            </a:solidFill>
          </a:ln>
        </p:spPr>
        <p:txBody>
          <a:bodyPr wrap="square" lIns="0" tIns="0" rIns="0" bIns="0" rtlCol="0" anchor="ctr"/>
          <a:lstStyle/>
          <a:p>
            <a:pPr algn="ctr" indent="0" marL="0">
              <a:buNone/>
            </a:pPr>
            <a:r>
              <a:rPr lang="en-US" sz="1350" dirty="0">
                <a:solidFill>
                  <a:srgbClr val="0F172B"/>
                </a:solidFill>
                <a:latin typeface="Arial" pitchFamily="34" charset="0"/>
                <a:ea typeface="Arial" pitchFamily="34" charset="-122"/>
                <a:cs typeface="Arial" pitchFamily="34" charset="-120"/>
              </a:rPr>
              <a:t>Approved?</a:t>
            </a:r>
            <a:endParaRPr lang="en-US" sz="1350" dirty="0"/>
          </a:p>
        </p:txBody>
      </p:sp>
      <p:sp>
        <p:nvSpPr>
          <p:cNvPr id="13" name="Shape 11"/>
          <p:cNvSpPr/>
          <p:nvPr/>
        </p:nvSpPr>
        <p:spPr>
          <a:xfrm>
            <a:off x="9331452" y="2048256"/>
            <a:ext cx="0" cy="201168"/>
          </a:xfrm>
          <a:prstGeom prst="line">
            <a:avLst/>
          </a:prstGeom>
          <a:noFill/>
          <a:ln w="15875">
            <a:solidFill>
              <a:srgbClr val="0F172B"/>
            </a:solidFill>
            <a:prstDash val="solid"/>
            <a:headEnd type="none"/>
            <a:tailEnd type="triangle"/>
          </a:ln>
        </p:spPr>
      </p:sp>
      <p:sp>
        <p:nvSpPr>
          <p:cNvPr id="14" name="Shape 12"/>
          <p:cNvSpPr/>
          <p:nvPr/>
        </p:nvSpPr>
        <p:spPr>
          <a:xfrm>
            <a:off x="9331452" y="2779776"/>
            <a:ext cx="0" cy="146304"/>
          </a:xfrm>
          <a:prstGeom prst="line">
            <a:avLst/>
          </a:prstGeom>
          <a:noFill/>
          <a:ln w="15875">
            <a:solidFill>
              <a:srgbClr val="0F172B"/>
            </a:solidFill>
            <a:prstDash val="solid"/>
            <a:headEnd type="none"/>
            <a:tailEnd type="triangle"/>
          </a:ln>
        </p:spPr>
      </p:sp>
      <p:sp>
        <p:nvSpPr>
          <p:cNvPr id="15" name="Text 13"/>
          <p:cNvSpPr/>
          <p:nvPr/>
        </p:nvSpPr>
        <p:spPr>
          <a:xfrm>
            <a:off x="2194560" y="3913632"/>
            <a:ext cx="7772400" cy="658368"/>
          </a:xfrm>
          <a:prstGeom prst="rect">
            <a:avLst/>
          </a:prstGeom>
          <a:solidFill>
            <a:srgbClr val="147A4C"/>
          </a:solidFill>
          <a:ln w="15875">
            <a:solidFill>
              <a:srgbClr val="147A4C"/>
            </a:solidFill>
            <a:prstDash val="solid"/>
          </a:ln>
        </p:spPr>
        <p:txBody>
          <a:bodyPr wrap="square" lIns="38100" tIns="38100" rIns="38100" bIns="3810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Synchronisation engine  —  writes the approved leave status onto every date in the range,</a:t>
            </a:r>
            <a:endParaRPr lang="en-US" sz="1350" dirty="0"/>
          </a:p>
          <a:p>
            <a:pPr algn="ctr" indent="0" marL="0">
              <a:buNone/>
            </a:pPr>
            <a:r>
              <a:rPr lang="en-US" sz="1350" b="1" dirty="0">
                <a:solidFill>
                  <a:srgbClr val="FFFFFF"/>
                </a:solidFill>
                <a:latin typeface="Arial" pitchFamily="34" charset="0"/>
                <a:ea typeface="Arial" pitchFamily="34" charset="-122"/>
                <a:cs typeface="Arial" pitchFamily="34" charset="-120"/>
              </a:rPr>
              <a:t>unless the day already holds a manual correction or a real punch</a:t>
            </a:r>
            <a:endParaRPr lang="en-US" sz="1350" dirty="0"/>
          </a:p>
        </p:txBody>
      </p:sp>
      <p:sp>
        <p:nvSpPr>
          <p:cNvPr id="16" name="Text 14"/>
          <p:cNvSpPr/>
          <p:nvPr/>
        </p:nvSpPr>
        <p:spPr>
          <a:xfrm>
            <a:off x="2194560" y="4828032"/>
            <a:ext cx="7772400" cy="548640"/>
          </a:xfrm>
          <a:prstGeom prst="rect">
            <a:avLst/>
          </a:prstGeom>
          <a:solidFill>
            <a:srgbClr val="EAF6EF"/>
          </a:solidFill>
          <a:ln w="15875">
            <a:solidFill>
              <a:srgbClr val="0F172B"/>
            </a:solidFill>
            <a:prstDash val="solid"/>
          </a:ln>
        </p:spPr>
        <p:txBody>
          <a:bodyPr wrap="square" lIns="38100" tIns="38100" rIns="38100" bIns="38100" rtlCol="0" anchor="ctr"/>
          <a:lstStyle/>
          <a:p>
            <a:pPr algn="ctr" indent="0" marL="0">
              <a:buNone/>
            </a:pPr>
            <a:r>
              <a:rPr lang="en-US" sz="1450" b="1" dirty="0">
                <a:solidFill>
                  <a:srgbClr val="0F172B"/>
                </a:solidFill>
                <a:latin typeface="Arial" pitchFamily="34" charset="0"/>
                <a:ea typeface="Arial" pitchFamily="34" charset="-122"/>
                <a:cs typeface="Arial" pitchFamily="34" charset="-120"/>
              </a:rPr>
              <a:t>One corrected attendance record per employee, per day</a:t>
            </a:r>
            <a:endParaRPr lang="en-US" sz="1450" dirty="0"/>
          </a:p>
        </p:txBody>
      </p:sp>
      <p:sp>
        <p:nvSpPr>
          <p:cNvPr id="17" name="Text 15"/>
          <p:cNvSpPr/>
          <p:nvPr/>
        </p:nvSpPr>
        <p:spPr>
          <a:xfrm>
            <a:off x="2194560" y="5632704"/>
            <a:ext cx="3794760" cy="566928"/>
          </a:xfrm>
          <a:prstGeom prst="rect">
            <a:avLst/>
          </a:prstGeom>
          <a:solidFill>
            <a:srgbClr val="FFFFFF"/>
          </a:solidFill>
          <a:ln w="15875">
            <a:solidFill>
              <a:srgbClr val="0F172B"/>
            </a:solidFill>
            <a:prstDash val="solid"/>
          </a:ln>
        </p:spPr>
        <p:txBody>
          <a:bodyPr wrap="square" lIns="38100" tIns="38100" rIns="38100" bIns="38100" rtlCol="0" anchor="ctr"/>
          <a:lstStyle/>
          <a:p>
            <a:pPr algn="ctr" indent="0" marL="0">
              <a:buNone/>
            </a:pPr>
            <a:r>
              <a:rPr lang="en-US" sz="1350" dirty="0">
                <a:solidFill>
                  <a:srgbClr val="0F172B"/>
                </a:solidFill>
                <a:latin typeface="Arial" pitchFamily="34" charset="0"/>
                <a:ea typeface="Arial" pitchFamily="34" charset="-122"/>
                <a:cs typeface="Arial" pitchFamily="34" charset="-120"/>
              </a:rPr>
              <a:t>Reports, exports</a:t>
            </a:r>
            <a:endParaRPr lang="en-US" sz="1350" dirty="0"/>
          </a:p>
          <a:p>
            <a:pPr algn="ctr" indent="0" marL="0">
              <a:buNone/>
            </a:pPr>
            <a:r>
              <a:rPr lang="en-US" sz="1350" dirty="0">
                <a:solidFill>
                  <a:srgbClr val="0F172B"/>
                </a:solidFill>
                <a:latin typeface="Arial" pitchFamily="34" charset="0"/>
                <a:ea typeface="Arial" pitchFamily="34" charset="-122"/>
                <a:cs typeface="Arial" pitchFamily="34" charset="-120"/>
              </a:rPr>
              <a:t>and notifications</a:t>
            </a:r>
            <a:endParaRPr lang="en-US" sz="1350" dirty="0"/>
          </a:p>
        </p:txBody>
      </p:sp>
      <p:sp>
        <p:nvSpPr>
          <p:cNvPr id="18" name="Text 16"/>
          <p:cNvSpPr/>
          <p:nvPr/>
        </p:nvSpPr>
        <p:spPr>
          <a:xfrm>
            <a:off x="6172200" y="5632704"/>
            <a:ext cx="3794760" cy="566928"/>
          </a:xfrm>
          <a:prstGeom prst="rect">
            <a:avLst/>
          </a:prstGeom>
          <a:solidFill>
            <a:srgbClr val="FFFFFF"/>
          </a:solidFill>
          <a:ln w="15875">
            <a:solidFill>
              <a:srgbClr val="0F172B"/>
            </a:solidFill>
            <a:prstDash val="solid"/>
          </a:ln>
        </p:spPr>
        <p:txBody>
          <a:bodyPr wrap="square" lIns="38100" tIns="38100" rIns="38100" bIns="38100" rtlCol="0" anchor="ctr"/>
          <a:lstStyle/>
          <a:p>
            <a:pPr algn="ctr" indent="0" marL="0">
              <a:buNone/>
            </a:pPr>
            <a:r>
              <a:rPr lang="en-US" sz="1350" dirty="0">
                <a:solidFill>
                  <a:srgbClr val="0F172B"/>
                </a:solidFill>
                <a:latin typeface="Arial" pitchFamily="34" charset="0"/>
                <a:ea typeface="Arial" pitchFamily="34" charset="-122"/>
                <a:cs typeface="Arial" pitchFamily="34" charset="-120"/>
              </a:rPr>
              <a:t>Analysis service — anomalies</a:t>
            </a:r>
            <a:endParaRPr lang="en-US" sz="1350" dirty="0"/>
          </a:p>
          <a:p>
            <a:pPr algn="ctr" indent="0" marL="0">
              <a:buNone/>
            </a:pPr>
            <a:r>
              <a:rPr lang="en-US" sz="1350" dirty="0">
                <a:solidFill>
                  <a:srgbClr val="0F172B"/>
                </a:solidFill>
                <a:latin typeface="Arial" pitchFamily="34" charset="0"/>
                <a:ea typeface="Arial" pitchFamily="34" charset="-122"/>
                <a:cs typeface="Arial" pitchFamily="34" charset="-120"/>
              </a:rPr>
              <a:t>and absenteeism risk</a:t>
            </a:r>
            <a:endParaRPr lang="en-US" sz="1350" dirty="0"/>
          </a:p>
        </p:txBody>
      </p:sp>
      <p:sp>
        <p:nvSpPr>
          <p:cNvPr id="19" name="Shape 17"/>
          <p:cNvSpPr/>
          <p:nvPr/>
        </p:nvSpPr>
        <p:spPr>
          <a:xfrm>
            <a:off x="2857500" y="3511296"/>
            <a:ext cx="0" cy="402336"/>
          </a:xfrm>
          <a:prstGeom prst="line">
            <a:avLst/>
          </a:prstGeom>
          <a:noFill/>
          <a:ln w="15875">
            <a:solidFill>
              <a:srgbClr val="0F172B"/>
            </a:solidFill>
            <a:prstDash val="solid"/>
            <a:headEnd type="none"/>
            <a:tailEnd type="triangle"/>
          </a:ln>
        </p:spPr>
      </p:sp>
      <p:sp>
        <p:nvSpPr>
          <p:cNvPr id="20" name="Shape 18"/>
          <p:cNvSpPr/>
          <p:nvPr/>
        </p:nvSpPr>
        <p:spPr>
          <a:xfrm>
            <a:off x="9331452" y="3584448"/>
            <a:ext cx="0" cy="329184"/>
          </a:xfrm>
          <a:prstGeom prst="line">
            <a:avLst/>
          </a:prstGeom>
          <a:noFill/>
          <a:ln w="15875">
            <a:solidFill>
              <a:srgbClr val="0F172B"/>
            </a:solidFill>
            <a:prstDash val="solid"/>
            <a:headEnd type="none"/>
            <a:tailEnd type="triangle"/>
          </a:ln>
        </p:spPr>
      </p:sp>
      <p:sp>
        <p:nvSpPr>
          <p:cNvPr id="21" name="Text 19"/>
          <p:cNvSpPr/>
          <p:nvPr/>
        </p:nvSpPr>
        <p:spPr>
          <a:xfrm>
            <a:off x="9441180" y="3602736"/>
            <a:ext cx="548640" cy="256032"/>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Yes</a:t>
            </a:r>
            <a:endParaRPr lang="en-US" sz="1200" dirty="0"/>
          </a:p>
        </p:txBody>
      </p:sp>
      <p:sp>
        <p:nvSpPr>
          <p:cNvPr id="22" name="Shape 20"/>
          <p:cNvSpPr/>
          <p:nvPr/>
        </p:nvSpPr>
        <p:spPr>
          <a:xfrm>
            <a:off x="6080760" y="4572000"/>
            <a:ext cx="0" cy="256032"/>
          </a:xfrm>
          <a:prstGeom prst="line">
            <a:avLst/>
          </a:prstGeom>
          <a:noFill/>
          <a:ln w="15875">
            <a:solidFill>
              <a:srgbClr val="0F172B"/>
            </a:solidFill>
            <a:prstDash val="solid"/>
            <a:headEnd type="none"/>
            <a:tailEnd type="triangle"/>
          </a:ln>
        </p:spPr>
      </p:sp>
      <p:sp>
        <p:nvSpPr>
          <p:cNvPr id="23" name="Shape 21"/>
          <p:cNvSpPr/>
          <p:nvPr/>
        </p:nvSpPr>
        <p:spPr>
          <a:xfrm>
            <a:off x="4091940" y="5376672"/>
            <a:ext cx="0" cy="256032"/>
          </a:xfrm>
          <a:prstGeom prst="line">
            <a:avLst/>
          </a:prstGeom>
          <a:noFill/>
          <a:ln w="15875">
            <a:solidFill>
              <a:srgbClr val="0F172B"/>
            </a:solidFill>
            <a:prstDash val="solid"/>
            <a:headEnd type="none"/>
            <a:tailEnd type="triangle"/>
          </a:ln>
        </p:spPr>
      </p:sp>
      <p:sp>
        <p:nvSpPr>
          <p:cNvPr id="24" name="Shape 22"/>
          <p:cNvSpPr/>
          <p:nvPr/>
        </p:nvSpPr>
        <p:spPr>
          <a:xfrm>
            <a:off x="8069580" y="5376672"/>
            <a:ext cx="0" cy="256032"/>
          </a:xfrm>
          <a:prstGeom prst="line">
            <a:avLst/>
          </a:prstGeom>
          <a:noFill/>
          <a:ln w="15875">
            <a:solidFill>
              <a:srgbClr val="0F172B"/>
            </a:solidFill>
            <a:prstDash val="solid"/>
            <a:headEnd type="none"/>
            <a:tailEnd type="triangle"/>
          </a:ln>
        </p:spPr>
      </p:sp>
      <p:sp>
        <p:nvSpPr>
          <p:cNvPr id="25" name="Shape 23"/>
          <p:cNvSpPr/>
          <p:nvPr/>
        </p:nvSpPr>
        <p:spPr>
          <a:xfrm>
            <a:off x="11411712" y="3255264"/>
            <a:ext cx="365760" cy="0"/>
          </a:xfrm>
          <a:prstGeom prst="line">
            <a:avLst/>
          </a:prstGeom>
          <a:noFill/>
          <a:ln w="15875">
            <a:solidFill>
              <a:srgbClr val="0F172B"/>
            </a:solidFill>
            <a:prstDash val="solid"/>
            <a:headEnd type="none"/>
            <a:tailEnd type="none"/>
          </a:ln>
        </p:spPr>
      </p:sp>
      <p:sp>
        <p:nvSpPr>
          <p:cNvPr id="26" name="Text 24"/>
          <p:cNvSpPr/>
          <p:nvPr/>
        </p:nvSpPr>
        <p:spPr>
          <a:xfrm>
            <a:off x="11247120" y="2999232"/>
            <a:ext cx="457200" cy="256032"/>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No</a:t>
            </a:r>
            <a:endParaRPr lang="en-US" sz="1200" dirty="0"/>
          </a:p>
        </p:txBody>
      </p:sp>
      <p:sp>
        <p:nvSpPr>
          <p:cNvPr id="27" name="Shape 25"/>
          <p:cNvSpPr/>
          <p:nvPr/>
        </p:nvSpPr>
        <p:spPr>
          <a:xfrm>
            <a:off x="11777472" y="3255264"/>
            <a:ext cx="0" cy="1847088"/>
          </a:xfrm>
          <a:prstGeom prst="line">
            <a:avLst/>
          </a:prstGeom>
          <a:noFill/>
          <a:ln w="15875">
            <a:solidFill>
              <a:srgbClr val="0F172B"/>
            </a:solidFill>
            <a:prstDash val="solid"/>
            <a:headEnd type="none"/>
            <a:tailEnd type="none"/>
          </a:ln>
        </p:spPr>
      </p:sp>
      <p:sp>
        <p:nvSpPr>
          <p:cNvPr id="28" name="Shape 26"/>
          <p:cNvSpPr/>
          <p:nvPr/>
        </p:nvSpPr>
        <p:spPr>
          <a:xfrm flipH="1">
            <a:off x="9966960" y="5102352"/>
            <a:ext cx="1810512" cy="0"/>
          </a:xfrm>
          <a:prstGeom prst="line">
            <a:avLst/>
          </a:prstGeom>
          <a:noFill/>
          <a:ln w="15875">
            <a:solidFill>
              <a:srgbClr val="0F172B"/>
            </a:solidFill>
            <a:prstDash val="solid"/>
            <a:headEnd type="none"/>
            <a:tailEnd type="triangle"/>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Flow Chart — Approval and Synchronisation</a:t>
            </a:r>
            <a:endParaRPr lang="en-US" sz="3200" dirty="0"/>
          </a:p>
        </p:txBody>
      </p:sp>
      <p:sp>
        <p:nvSpPr>
          <p:cNvPr id="4" name="Text 2"/>
          <p:cNvSpPr/>
          <p:nvPr/>
        </p:nvSpPr>
        <p:spPr>
          <a:xfrm>
            <a:off x="1133856" y="1005840"/>
            <a:ext cx="10369296" cy="329184"/>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The core of the project: what happens the moment a permission is approved</a:t>
            </a:r>
            <a:endParaRPr lang="en-US" sz="1600" dirty="0"/>
          </a:p>
        </p:txBody>
      </p:sp>
      <p:sp>
        <p:nvSpPr>
          <p:cNvPr id="5" name="Text 3"/>
          <p:cNvSpPr/>
          <p:nvPr/>
        </p:nvSpPr>
        <p:spPr>
          <a:xfrm>
            <a:off x="3840480" y="1609344"/>
            <a:ext cx="4206240" cy="658368"/>
          </a:xfrm>
          <a:prstGeom prst="roundRect">
            <a:avLst>
              <a:gd name="adj" fmla="val 13889"/>
            </a:avLst>
          </a:prstGeom>
          <a:solidFill>
            <a:srgbClr val="EAF6EF"/>
          </a:solidFill>
          <a:ln w="15875">
            <a:solidFill>
              <a:srgbClr val="0F172B"/>
            </a:solidFill>
            <a:prstDash val="solid"/>
          </a:ln>
        </p:spPr>
        <p:txBody>
          <a:bodyPr wrap="square" lIns="38100" tIns="38100" rIns="38100" bIns="38100" rtlCol="0" anchor="ctr"/>
          <a:lstStyle/>
          <a:p>
            <a:pPr algn="ctr" indent="0" marL="0">
              <a:buNone/>
            </a:pPr>
            <a:r>
              <a:rPr lang="en-US" sz="1350" dirty="0">
                <a:solidFill>
                  <a:srgbClr val="0F172B"/>
                </a:solidFill>
                <a:latin typeface="Arial" pitchFamily="34" charset="0"/>
                <a:ea typeface="Arial" pitchFamily="34" charset="-122"/>
                <a:cs typeface="Arial" pitchFamily="34" charset="-120"/>
              </a:rPr>
              <a:t>An officer approves a request — a queued event</a:t>
            </a:r>
            <a:endParaRPr lang="en-US" sz="1350" dirty="0"/>
          </a:p>
          <a:p>
            <a:pPr algn="ctr" indent="0" marL="0">
              <a:buNone/>
            </a:pPr>
            <a:r>
              <a:rPr lang="en-US" sz="1350" dirty="0">
                <a:solidFill>
                  <a:srgbClr val="0F172B"/>
                </a:solidFill>
                <a:latin typeface="Arial" pitchFamily="34" charset="0"/>
                <a:ea typeface="Arial" pitchFamily="34" charset="-122"/>
                <a:cs typeface="Arial" pitchFamily="34" charset="-120"/>
              </a:rPr>
              <a:t>runs for every date in the approved range</a:t>
            </a:r>
            <a:endParaRPr lang="en-US" sz="1350" dirty="0"/>
          </a:p>
        </p:txBody>
      </p:sp>
      <p:sp>
        <p:nvSpPr>
          <p:cNvPr id="6" name="Text 4"/>
          <p:cNvSpPr/>
          <p:nvPr/>
        </p:nvSpPr>
        <p:spPr>
          <a:xfrm>
            <a:off x="3840480" y="2450592"/>
            <a:ext cx="4206240" cy="822960"/>
          </a:xfrm>
          <a:prstGeom prst="diamond">
            <a:avLst/>
          </a:prstGeom>
          <a:solidFill>
            <a:srgbClr val="FFFFFF"/>
          </a:solidFill>
          <a:ln w="19050">
            <a:solidFill>
              <a:srgbClr val="147A4C"/>
            </a:solidFill>
          </a:ln>
        </p:spPr>
        <p:txBody>
          <a:bodyPr wrap="square" lIns="0" tIns="0" rIns="0" bIns="0" rtlCol="0" anchor="ctr"/>
          <a:lstStyle/>
          <a:p>
            <a:pPr algn="ctr" indent="0" marL="0">
              <a:buNone/>
            </a:pPr>
            <a:r>
              <a:rPr lang="en-US" sz="1300" dirty="0">
                <a:solidFill>
                  <a:srgbClr val="0F172B"/>
                </a:solidFill>
                <a:latin typeface="Arial" pitchFamily="34" charset="0"/>
                <a:ea typeface="Arial" pitchFamily="34" charset="-122"/>
                <a:cs typeface="Arial" pitchFamily="34" charset="-120"/>
              </a:rPr>
              <a:t>Manual correction</a:t>
            </a:r>
            <a:endParaRPr lang="en-US" sz="1300" dirty="0"/>
          </a:p>
          <a:p>
            <a:pPr algn="ctr" indent="0" marL="0">
              <a:buNone/>
            </a:pPr>
            <a:r>
              <a:rPr lang="en-US" sz="1300" dirty="0">
                <a:solidFill>
                  <a:srgbClr val="0F172B"/>
                </a:solidFill>
                <a:latin typeface="Arial" pitchFamily="34" charset="0"/>
                <a:ea typeface="Arial" pitchFamily="34" charset="-122"/>
                <a:cs typeface="Arial" pitchFamily="34" charset="-120"/>
              </a:rPr>
              <a:t>on that day?</a:t>
            </a:r>
            <a:endParaRPr lang="en-US" sz="1300" dirty="0"/>
          </a:p>
        </p:txBody>
      </p:sp>
      <p:sp>
        <p:nvSpPr>
          <p:cNvPr id="7" name="Text 5"/>
          <p:cNvSpPr/>
          <p:nvPr/>
        </p:nvSpPr>
        <p:spPr>
          <a:xfrm>
            <a:off x="3840480" y="3456432"/>
            <a:ext cx="4206240" cy="822960"/>
          </a:xfrm>
          <a:prstGeom prst="diamond">
            <a:avLst/>
          </a:prstGeom>
          <a:solidFill>
            <a:srgbClr val="FFFFFF"/>
          </a:solidFill>
          <a:ln w="19050">
            <a:solidFill>
              <a:srgbClr val="147A4C"/>
            </a:solidFill>
          </a:ln>
        </p:spPr>
        <p:txBody>
          <a:bodyPr wrap="square" lIns="0" tIns="0" rIns="0" bIns="0" rtlCol="0" anchor="ctr"/>
          <a:lstStyle/>
          <a:p>
            <a:pPr algn="ctr" indent="0" marL="0">
              <a:buNone/>
            </a:pPr>
            <a:r>
              <a:rPr lang="en-US" sz="1300" dirty="0">
                <a:solidFill>
                  <a:srgbClr val="0F172B"/>
                </a:solidFill>
                <a:latin typeface="Arial" pitchFamily="34" charset="0"/>
                <a:ea typeface="Arial" pitchFamily="34" charset="-122"/>
                <a:cs typeface="Arial" pitchFamily="34" charset="-120"/>
              </a:rPr>
              <a:t>A real punch —</a:t>
            </a:r>
            <a:endParaRPr lang="en-US" sz="1300" dirty="0"/>
          </a:p>
          <a:p>
            <a:pPr algn="ctr" indent="0" marL="0">
              <a:buNone/>
            </a:pPr>
            <a:r>
              <a:rPr lang="en-US" sz="1300" dirty="0">
                <a:solidFill>
                  <a:srgbClr val="0F172B"/>
                </a:solidFill>
                <a:latin typeface="Arial" pitchFamily="34" charset="0"/>
                <a:ea typeface="Arial" pitchFamily="34" charset="-122"/>
                <a:cs typeface="Arial" pitchFamily="34" charset="-120"/>
              </a:rPr>
              <a:t>Present or Late?</a:t>
            </a:r>
            <a:endParaRPr lang="en-US" sz="1300" dirty="0"/>
          </a:p>
        </p:txBody>
      </p:sp>
      <p:sp>
        <p:nvSpPr>
          <p:cNvPr id="8" name="Text 6"/>
          <p:cNvSpPr/>
          <p:nvPr/>
        </p:nvSpPr>
        <p:spPr>
          <a:xfrm>
            <a:off x="3840480" y="4462272"/>
            <a:ext cx="4206240" cy="822960"/>
          </a:xfrm>
          <a:prstGeom prst="diamond">
            <a:avLst/>
          </a:prstGeom>
          <a:solidFill>
            <a:srgbClr val="FFFFFF"/>
          </a:solidFill>
          <a:ln w="19050">
            <a:solidFill>
              <a:srgbClr val="147A4C"/>
            </a:solidFill>
          </a:ln>
        </p:spPr>
        <p:txBody>
          <a:bodyPr wrap="square" lIns="0" tIns="0" rIns="0" bIns="0" rtlCol="0" anchor="ctr"/>
          <a:lstStyle/>
          <a:p>
            <a:pPr algn="ctr" indent="0" marL="0">
              <a:buNone/>
            </a:pPr>
            <a:r>
              <a:rPr lang="en-US" sz="1300" dirty="0">
                <a:solidFill>
                  <a:srgbClr val="0F172B"/>
                </a:solidFill>
                <a:latin typeface="Arial" pitchFamily="34" charset="0"/>
                <a:ea typeface="Arial" pitchFamily="34" charset="-122"/>
                <a:cs typeface="Arial" pitchFamily="34" charset="-120"/>
              </a:rPr>
              <a:t>Already synchronised</a:t>
            </a:r>
            <a:endParaRPr lang="en-US" sz="1300" dirty="0"/>
          </a:p>
          <a:p>
            <a:pPr algn="ctr" indent="0" marL="0">
              <a:buNone/>
            </a:pPr>
            <a:r>
              <a:rPr lang="en-US" sz="1300" dirty="0">
                <a:solidFill>
                  <a:srgbClr val="0F172B"/>
                </a:solidFill>
                <a:latin typeface="Arial" pitchFamily="34" charset="0"/>
                <a:ea typeface="Arial" pitchFamily="34" charset="-122"/>
                <a:cs typeface="Arial" pitchFamily="34" charset="-120"/>
              </a:rPr>
              <a:t>to this status?</a:t>
            </a:r>
            <a:endParaRPr lang="en-US" sz="1300" dirty="0"/>
          </a:p>
        </p:txBody>
      </p:sp>
      <p:sp>
        <p:nvSpPr>
          <p:cNvPr id="9" name="Text 7"/>
          <p:cNvSpPr/>
          <p:nvPr/>
        </p:nvSpPr>
        <p:spPr>
          <a:xfrm>
            <a:off x="3840480" y="5468112"/>
            <a:ext cx="4206240" cy="658368"/>
          </a:xfrm>
          <a:prstGeom prst="roundRect">
            <a:avLst>
              <a:gd name="adj" fmla="val 13889"/>
            </a:avLst>
          </a:prstGeom>
          <a:solidFill>
            <a:srgbClr val="147A4C"/>
          </a:solidFill>
          <a:ln w="15875">
            <a:solidFill>
              <a:srgbClr val="147A4C"/>
            </a:solidFill>
            <a:prstDash val="solid"/>
          </a:ln>
        </p:spPr>
        <p:txBody>
          <a:bodyPr wrap="square" lIns="38100" tIns="38100" rIns="38100" bIns="3810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Write the leave status, link the request</a:t>
            </a:r>
            <a:endParaRPr lang="en-US" sz="1350" dirty="0"/>
          </a:p>
          <a:p>
            <a:pPr algn="ctr" indent="0" marL="0">
              <a:buNone/>
            </a:pPr>
            <a:r>
              <a:rPr lang="en-US" sz="1350" b="1" dirty="0">
                <a:solidFill>
                  <a:srgbClr val="FFFFFF"/>
                </a:solidFill>
                <a:latin typeface="Arial" pitchFamily="34" charset="0"/>
                <a:ea typeface="Arial" pitchFamily="34" charset="-122"/>
                <a:cs typeface="Arial" pitchFamily="34" charset="-120"/>
              </a:rPr>
              <a:t>and record an audit entry</a:t>
            </a:r>
            <a:endParaRPr lang="en-US" sz="1350" dirty="0"/>
          </a:p>
        </p:txBody>
      </p:sp>
      <p:sp>
        <p:nvSpPr>
          <p:cNvPr id="10" name="Shape 8"/>
          <p:cNvSpPr/>
          <p:nvPr/>
        </p:nvSpPr>
        <p:spPr>
          <a:xfrm>
            <a:off x="5943600" y="2267712"/>
            <a:ext cx="0" cy="182880"/>
          </a:xfrm>
          <a:prstGeom prst="line">
            <a:avLst/>
          </a:prstGeom>
          <a:noFill/>
          <a:ln w="15875">
            <a:solidFill>
              <a:srgbClr val="0F172B"/>
            </a:solidFill>
            <a:prstDash val="solid"/>
            <a:headEnd type="none"/>
            <a:tailEnd type="triangle"/>
          </a:ln>
        </p:spPr>
      </p:sp>
      <p:sp>
        <p:nvSpPr>
          <p:cNvPr id="11" name="Shape 9"/>
          <p:cNvSpPr/>
          <p:nvPr/>
        </p:nvSpPr>
        <p:spPr>
          <a:xfrm>
            <a:off x="5943600" y="3273552"/>
            <a:ext cx="0" cy="182880"/>
          </a:xfrm>
          <a:prstGeom prst="line">
            <a:avLst/>
          </a:prstGeom>
          <a:noFill/>
          <a:ln w="15875">
            <a:solidFill>
              <a:srgbClr val="0F172B"/>
            </a:solidFill>
            <a:prstDash val="solid"/>
            <a:headEnd type="none"/>
            <a:tailEnd type="triangle"/>
          </a:ln>
        </p:spPr>
      </p:sp>
      <p:sp>
        <p:nvSpPr>
          <p:cNvPr id="12" name="Shape 10"/>
          <p:cNvSpPr/>
          <p:nvPr/>
        </p:nvSpPr>
        <p:spPr>
          <a:xfrm>
            <a:off x="5943600" y="4279392"/>
            <a:ext cx="0" cy="182880"/>
          </a:xfrm>
          <a:prstGeom prst="line">
            <a:avLst/>
          </a:prstGeom>
          <a:noFill/>
          <a:ln w="15875">
            <a:solidFill>
              <a:srgbClr val="0F172B"/>
            </a:solidFill>
            <a:prstDash val="solid"/>
            <a:headEnd type="none"/>
            <a:tailEnd type="triangle"/>
          </a:ln>
        </p:spPr>
      </p:sp>
      <p:sp>
        <p:nvSpPr>
          <p:cNvPr id="13" name="Shape 11"/>
          <p:cNvSpPr/>
          <p:nvPr/>
        </p:nvSpPr>
        <p:spPr>
          <a:xfrm>
            <a:off x="5943600" y="5285232"/>
            <a:ext cx="0" cy="182880"/>
          </a:xfrm>
          <a:prstGeom prst="line">
            <a:avLst/>
          </a:prstGeom>
          <a:noFill/>
          <a:ln w="15875">
            <a:solidFill>
              <a:srgbClr val="0F172B"/>
            </a:solidFill>
            <a:prstDash val="solid"/>
            <a:headEnd type="none"/>
            <a:tailEnd type="triangle"/>
          </a:ln>
        </p:spPr>
      </p:sp>
      <p:sp>
        <p:nvSpPr>
          <p:cNvPr id="14" name="Text 12"/>
          <p:cNvSpPr/>
          <p:nvPr/>
        </p:nvSpPr>
        <p:spPr>
          <a:xfrm>
            <a:off x="8641080" y="2606040"/>
            <a:ext cx="2834640" cy="512064"/>
          </a:xfrm>
          <a:prstGeom prst="rect">
            <a:avLst/>
          </a:prstGeom>
          <a:solidFill>
            <a:srgbClr val="FFFFFF"/>
          </a:solidFill>
          <a:ln w="15875">
            <a:solidFill>
              <a:srgbClr val="0F172B"/>
            </a:solidFill>
            <a:prstDash val="solid"/>
          </a:ln>
        </p:spPr>
        <p:txBody>
          <a:bodyPr wrap="square" lIns="38100" tIns="38100" rIns="38100" bIns="38100" rtlCol="0" anchor="ctr"/>
          <a:lstStyle/>
          <a:p>
            <a:pPr algn="ctr" indent="0" marL="0">
              <a:buNone/>
            </a:pPr>
            <a:r>
              <a:rPr lang="en-US" sz="1250" dirty="0">
                <a:solidFill>
                  <a:srgbClr val="0F172B"/>
                </a:solidFill>
                <a:latin typeface="Arial" pitchFamily="34" charset="0"/>
                <a:ea typeface="Arial" pitchFamily="34" charset="-122"/>
                <a:cs typeface="Arial" pitchFamily="34" charset="-120"/>
              </a:rPr>
              <a:t>Skip — a human decision</a:t>
            </a:r>
            <a:endParaRPr lang="en-US" sz="1250" dirty="0"/>
          </a:p>
          <a:p>
            <a:pPr algn="ctr" indent="0" marL="0">
              <a:buNone/>
            </a:pPr>
            <a:r>
              <a:rPr lang="en-US" sz="1250" dirty="0">
                <a:solidFill>
                  <a:srgbClr val="0F172B"/>
                </a:solidFill>
                <a:latin typeface="Arial" pitchFamily="34" charset="0"/>
                <a:ea typeface="Arial" pitchFamily="34" charset="-122"/>
                <a:cs typeface="Arial" pitchFamily="34" charset="-120"/>
              </a:rPr>
              <a:t>is never overwritten</a:t>
            </a:r>
            <a:endParaRPr lang="en-US" sz="1250" dirty="0"/>
          </a:p>
        </p:txBody>
      </p:sp>
      <p:sp>
        <p:nvSpPr>
          <p:cNvPr id="15" name="Text 13"/>
          <p:cNvSpPr/>
          <p:nvPr/>
        </p:nvSpPr>
        <p:spPr>
          <a:xfrm>
            <a:off x="8641080" y="3611880"/>
            <a:ext cx="2834640" cy="512064"/>
          </a:xfrm>
          <a:prstGeom prst="rect">
            <a:avLst/>
          </a:prstGeom>
          <a:solidFill>
            <a:srgbClr val="FFFFFF"/>
          </a:solidFill>
          <a:ln w="15875">
            <a:solidFill>
              <a:srgbClr val="0F172B"/>
            </a:solidFill>
            <a:prstDash val="solid"/>
          </a:ln>
        </p:spPr>
        <p:txBody>
          <a:bodyPr wrap="square" lIns="38100" tIns="38100" rIns="38100" bIns="38100" rtlCol="0" anchor="ctr"/>
          <a:lstStyle/>
          <a:p>
            <a:pPr algn="ctr" indent="0" marL="0">
              <a:buNone/>
            </a:pPr>
            <a:r>
              <a:rPr lang="en-US" sz="1250" dirty="0">
                <a:solidFill>
                  <a:srgbClr val="0F172B"/>
                </a:solidFill>
                <a:latin typeface="Arial" pitchFamily="34" charset="0"/>
                <a:ea typeface="Arial" pitchFamily="34" charset="-122"/>
                <a:cs typeface="Arial" pitchFamily="34" charset="-120"/>
              </a:rPr>
              <a:t>Skip — real evidence</a:t>
            </a:r>
            <a:endParaRPr lang="en-US" sz="1250" dirty="0"/>
          </a:p>
          <a:p>
            <a:pPr algn="ctr" indent="0" marL="0">
              <a:buNone/>
            </a:pPr>
            <a:r>
              <a:rPr lang="en-US" sz="1250" dirty="0">
                <a:solidFill>
                  <a:srgbClr val="0F172B"/>
                </a:solidFill>
                <a:latin typeface="Arial" pitchFamily="34" charset="0"/>
                <a:ea typeface="Arial" pitchFamily="34" charset="-122"/>
                <a:cs typeface="Arial" pitchFamily="34" charset="-120"/>
              </a:rPr>
              <a:t>is never erased</a:t>
            </a:r>
            <a:endParaRPr lang="en-US" sz="1250" dirty="0"/>
          </a:p>
        </p:txBody>
      </p:sp>
      <p:sp>
        <p:nvSpPr>
          <p:cNvPr id="16" name="Text 14"/>
          <p:cNvSpPr/>
          <p:nvPr/>
        </p:nvSpPr>
        <p:spPr>
          <a:xfrm>
            <a:off x="8641080" y="4617720"/>
            <a:ext cx="2834640" cy="512064"/>
          </a:xfrm>
          <a:prstGeom prst="rect">
            <a:avLst/>
          </a:prstGeom>
          <a:solidFill>
            <a:srgbClr val="FFFFFF"/>
          </a:solidFill>
          <a:ln w="15875">
            <a:solidFill>
              <a:srgbClr val="0F172B"/>
            </a:solidFill>
            <a:prstDash val="solid"/>
          </a:ln>
        </p:spPr>
        <p:txBody>
          <a:bodyPr wrap="square" lIns="38100" tIns="38100" rIns="38100" bIns="38100" rtlCol="0" anchor="ctr"/>
          <a:lstStyle/>
          <a:p>
            <a:pPr algn="ctr" indent="0" marL="0">
              <a:buNone/>
            </a:pPr>
            <a:r>
              <a:rPr lang="en-US" sz="1250" dirty="0">
                <a:solidFill>
                  <a:srgbClr val="0F172B"/>
                </a:solidFill>
                <a:latin typeface="Arial" pitchFamily="34" charset="0"/>
                <a:ea typeface="Arial" pitchFamily="34" charset="-122"/>
                <a:cs typeface="Arial" pitchFamily="34" charset="-120"/>
              </a:rPr>
              <a:t>Skip — no change,</a:t>
            </a:r>
            <a:endParaRPr lang="en-US" sz="1250" dirty="0"/>
          </a:p>
          <a:p>
            <a:pPr algn="ctr" indent="0" marL="0">
              <a:buNone/>
            </a:pPr>
            <a:r>
              <a:rPr lang="en-US" sz="1250" dirty="0">
                <a:solidFill>
                  <a:srgbClr val="0F172B"/>
                </a:solidFill>
                <a:latin typeface="Arial" pitchFamily="34" charset="0"/>
                <a:ea typeface="Arial" pitchFamily="34" charset="-122"/>
                <a:cs typeface="Arial" pitchFamily="34" charset="-120"/>
              </a:rPr>
              <a:t>so the run is repeatable</a:t>
            </a:r>
            <a:endParaRPr lang="en-US" sz="1250" dirty="0"/>
          </a:p>
        </p:txBody>
      </p:sp>
      <p:sp>
        <p:nvSpPr>
          <p:cNvPr id="17" name="Shape 15"/>
          <p:cNvSpPr/>
          <p:nvPr/>
        </p:nvSpPr>
        <p:spPr>
          <a:xfrm>
            <a:off x="8046720" y="2862072"/>
            <a:ext cx="594360" cy="0"/>
          </a:xfrm>
          <a:prstGeom prst="line">
            <a:avLst/>
          </a:prstGeom>
          <a:noFill/>
          <a:ln w="15875">
            <a:solidFill>
              <a:srgbClr val="0F172B"/>
            </a:solidFill>
            <a:prstDash val="solid"/>
            <a:headEnd type="none"/>
            <a:tailEnd type="triangle"/>
          </a:ln>
        </p:spPr>
      </p:sp>
      <p:sp>
        <p:nvSpPr>
          <p:cNvPr id="18" name="Shape 16"/>
          <p:cNvSpPr/>
          <p:nvPr/>
        </p:nvSpPr>
        <p:spPr>
          <a:xfrm>
            <a:off x="8046720" y="3867912"/>
            <a:ext cx="594360" cy="0"/>
          </a:xfrm>
          <a:prstGeom prst="line">
            <a:avLst/>
          </a:prstGeom>
          <a:noFill/>
          <a:ln w="15875">
            <a:solidFill>
              <a:srgbClr val="0F172B"/>
            </a:solidFill>
            <a:prstDash val="solid"/>
            <a:headEnd type="none"/>
            <a:tailEnd type="triangle"/>
          </a:ln>
        </p:spPr>
      </p:sp>
      <p:sp>
        <p:nvSpPr>
          <p:cNvPr id="19" name="Shape 17"/>
          <p:cNvSpPr/>
          <p:nvPr/>
        </p:nvSpPr>
        <p:spPr>
          <a:xfrm>
            <a:off x="8046720" y="4873752"/>
            <a:ext cx="594360" cy="0"/>
          </a:xfrm>
          <a:prstGeom prst="line">
            <a:avLst/>
          </a:prstGeom>
          <a:noFill/>
          <a:ln w="15875">
            <a:solidFill>
              <a:srgbClr val="0F172B"/>
            </a:solidFill>
            <a:prstDash val="solid"/>
            <a:headEnd type="none"/>
            <a:tailEnd type="triangle"/>
          </a:ln>
        </p:spPr>
      </p:sp>
      <p:sp>
        <p:nvSpPr>
          <p:cNvPr id="20" name="Text 18"/>
          <p:cNvSpPr/>
          <p:nvPr/>
        </p:nvSpPr>
        <p:spPr>
          <a:xfrm>
            <a:off x="8083296" y="2578608"/>
            <a:ext cx="603504" cy="256032"/>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Yes</a:t>
            </a:r>
            <a:endParaRPr lang="en-US" sz="1200" dirty="0"/>
          </a:p>
        </p:txBody>
      </p:sp>
      <p:sp>
        <p:nvSpPr>
          <p:cNvPr id="21" name="Text 19"/>
          <p:cNvSpPr/>
          <p:nvPr/>
        </p:nvSpPr>
        <p:spPr>
          <a:xfrm>
            <a:off x="8083296" y="3584448"/>
            <a:ext cx="603504" cy="256032"/>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Yes</a:t>
            </a:r>
            <a:endParaRPr lang="en-US" sz="1200" dirty="0"/>
          </a:p>
        </p:txBody>
      </p:sp>
      <p:sp>
        <p:nvSpPr>
          <p:cNvPr id="22" name="Text 20"/>
          <p:cNvSpPr/>
          <p:nvPr/>
        </p:nvSpPr>
        <p:spPr>
          <a:xfrm>
            <a:off x="8083296" y="4590288"/>
            <a:ext cx="603504" cy="256032"/>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Yes</a:t>
            </a:r>
            <a:endParaRPr lang="en-US" sz="1200" dirty="0"/>
          </a:p>
        </p:txBody>
      </p:sp>
      <p:sp>
        <p:nvSpPr>
          <p:cNvPr id="23" name="Text 21"/>
          <p:cNvSpPr/>
          <p:nvPr/>
        </p:nvSpPr>
        <p:spPr>
          <a:xfrm>
            <a:off x="6035040" y="3255264"/>
            <a:ext cx="548640" cy="256032"/>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No</a:t>
            </a:r>
            <a:endParaRPr lang="en-US" sz="1200" dirty="0"/>
          </a:p>
        </p:txBody>
      </p:sp>
      <p:sp>
        <p:nvSpPr>
          <p:cNvPr id="24" name="Text 22"/>
          <p:cNvSpPr/>
          <p:nvPr/>
        </p:nvSpPr>
        <p:spPr>
          <a:xfrm>
            <a:off x="6035040" y="4261104"/>
            <a:ext cx="548640" cy="256032"/>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No</a:t>
            </a:r>
            <a:endParaRPr lang="en-US" sz="1200" dirty="0"/>
          </a:p>
        </p:txBody>
      </p:sp>
      <p:sp>
        <p:nvSpPr>
          <p:cNvPr id="25" name="Text 23"/>
          <p:cNvSpPr/>
          <p:nvPr/>
        </p:nvSpPr>
        <p:spPr>
          <a:xfrm>
            <a:off x="6035040" y="5266944"/>
            <a:ext cx="548640" cy="256032"/>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No</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System Architecture</a:t>
            </a:r>
            <a:endParaRPr lang="en-US" sz="3200" dirty="0"/>
          </a:p>
        </p:txBody>
      </p:sp>
      <p:sp>
        <p:nvSpPr>
          <p:cNvPr id="4" name="Text 2"/>
          <p:cNvSpPr/>
          <p:nvPr/>
        </p:nvSpPr>
        <p:spPr>
          <a:xfrm>
            <a:off x="1133856" y="1005840"/>
            <a:ext cx="10369296" cy="329184"/>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Two independent sources of evidence, one authoritative record, one analytical layer above it</a:t>
            </a:r>
            <a:endParaRPr lang="en-US" sz="1600" dirty="0"/>
          </a:p>
        </p:txBody>
      </p:sp>
      <p:sp>
        <p:nvSpPr>
          <p:cNvPr id="5" name="Text 3"/>
          <p:cNvSpPr/>
          <p:nvPr/>
        </p:nvSpPr>
        <p:spPr>
          <a:xfrm>
            <a:off x="685800" y="1645920"/>
            <a:ext cx="3319272" cy="841248"/>
          </a:xfrm>
          <a:prstGeom prst="rect">
            <a:avLst/>
          </a:prstGeom>
          <a:solidFill>
            <a:srgbClr val="FFFFFF"/>
          </a:solidFill>
          <a:ln w="15875">
            <a:solidFill>
              <a:srgbClr val="0F172B"/>
            </a:solidFill>
            <a:prstDash val="solid"/>
          </a:ln>
        </p:spPr>
        <p:txBody>
          <a:bodyPr wrap="square" lIns="38100" tIns="38100" rIns="38100" bIns="38100" rtlCol="0" anchor="ctr"/>
          <a:lstStyle/>
          <a:p>
            <a:pPr algn="ctr" indent="0" marL="0">
              <a:buNone/>
            </a:pPr>
            <a:r>
              <a:rPr lang="en-US" sz="1400" dirty="0">
                <a:solidFill>
                  <a:srgbClr val="0F172B"/>
                </a:solidFill>
                <a:latin typeface="Arial" pitchFamily="34" charset="0"/>
                <a:ea typeface="Arial" pitchFamily="34" charset="-122"/>
                <a:cs typeface="Arial" pitchFamily="34" charset="-120"/>
              </a:rPr>
              <a:t>Biometric terminals</a:t>
            </a:r>
            <a:endParaRPr lang="en-US" sz="1400" dirty="0"/>
          </a:p>
          <a:p>
            <a:pPr algn="ctr" indent="0" marL="0">
              <a:buNone/>
            </a:pPr>
            <a:r>
              <a:rPr lang="en-US" sz="1400" dirty="0">
                <a:solidFill>
                  <a:srgbClr val="0F172B"/>
                </a:solidFill>
                <a:latin typeface="Arial" pitchFamily="34" charset="0"/>
                <a:ea typeface="Arial" pitchFamily="34" charset="-122"/>
                <a:cs typeface="Arial" pitchFamily="34" charset="-120"/>
              </a:rPr>
              <a:t>ZKTeco and Hikvision</a:t>
            </a:r>
            <a:endParaRPr lang="en-US" sz="1400" dirty="0"/>
          </a:p>
        </p:txBody>
      </p:sp>
      <p:sp>
        <p:nvSpPr>
          <p:cNvPr id="6" name="Text 4"/>
          <p:cNvSpPr/>
          <p:nvPr/>
        </p:nvSpPr>
        <p:spPr>
          <a:xfrm>
            <a:off x="4434840" y="1645920"/>
            <a:ext cx="3319272" cy="841248"/>
          </a:xfrm>
          <a:prstGeom prst="rect">
            <a:avLst/>
          </a:prstGeom>
          <a:solidFill>
            <a:srgbClr val="FFFFFF"/>
          </a:solidFill>
          <a:ln w="15875">
            <a:solidFill>
              <a:srgbClr val="0F172B"/>
            </a:solidFill>
            <a:prstDash val="solid"/>
          </a:ln>
        </p:spPr>
        <p:txBody>
          <a:bodyPr wrap="square" lIns="38100" tIns="38100" rIns="38100" bIns="38100" rtlCol="0" anchor="ctr"/>
          <a:lstStyle/>
          <a:p>
            <a:pPr algn="ctr" indent="0" marL="0">
              <a:buNone/>
            </a:pPr>
            <a:r>
              <a:rPr lang="en-US" sz="1400" dirty="0">
                <a:solidFill>
                  <a:srgbClr val="0F172B"/>
                </a:solidFill>
                <a:latin typeface="Arial" pitchFamily="34" charset="0"/>
                <a:ea typeface="Arial" pitchFamily="34" charset="-122"/>
                <a:cs typeface="Arial" pitchFamily="34" charset="-120"/>
              </a:rPr>
              <a:t>Mobile check-in</a:t>
            </a:r>
            <a:endParaRPr lang="en-US" sz="1400" dirty="0"/>
          </a:p>
          <a:p>
            <a:pPr algn="ctr" indent="0" marL="0">
              <a:buNone/>
            </a:pPr>
            <a:r>
              <a:rPr lang="en-US" sz="1400" dirty="0">
                <a:solidFill>
                  <a:srgbClr val="0F172B"/>
                </a:solidFill>
                <a:latin typeface="Arial" pitchFamily="34" charset="0"/>
                <a:ea typeface="Arial" pitchFamily="34" charset="-122"/>
                <a:cs typeface="Arial" pitchFamily="34" charset="-120"/>
              </a:rPr>
              <a:t>(geofenced, optional)</a:t>
            </a:r>
            <a:endParaRPr lang="en-US" sz="1400" dirty="0"/>
          </a:p>
        </p:txBody>
      </p:sp>
      <p:sp>
        <p:nvSpPr>
          <p:cNvPr id="7" name="Text 5"/>
          <p:cNvSpPr/>
          <p:nvPr/>
        </p:nvSpPr>
        <p:spPr>
          <a:xfrm>
            <a:off x="8183880" y="1645920"/>
            <a:ext cx="3319272" cy="841248"/>
          </a:xfrm>
          <a:prstGeom prst="rect">
            <a:avLst/>
          </a:prstGeom>
          <a:solidFill>
            <a:srgbClr val="FFFFFF"/>
          </a:solidFill>
          <a:ln w="15875">
            <a:solidFill>
              <a:srgbClr val="0F172B"/>
            </a:solidFill>
            <a:prstDash val="solid"/>
          </a:ln>
        </p:spPr>
        <p:txBody>
          <a:bodyPr wrap="square" lIns="38100" tIns="38100" rIns="38100" bIns="38100" rtlCol="0" anchor="ctr"/>
          <a:lstStyle/>
          <a:p>
            <a:pPr algn="ctr" indent="0" marL="0">
              <a:buNone/>
            </a:pPr>
            <a:r>
              <a:rPr lang="en-US" sz="1400" dirty="0">
                <a:solidFill>
                  <a:srgbClr val="0F172B"/>
                </a:solidFill>
                <a:latin typeface="Arial" pitchFamily="34" charset="0"/>
                <a:ea typeface="Arial" pitchFamily="34" charset="-122"/>
                <a:cs typeface="Arial" pitchFamily="34" charset="-120"/>
              </a:rPr>
              <a:t>Permission and leave</a:t>
            </a:r>
            <a:endParaRPr lang="en-US" sz="1400" dirty="0"/>
          </a:p>
          <a:p>
            <a:pPr algn="ctr" indent="0" marL="0">
              <a:buNone/>
            </a:pPr>
            <a:r>
              <a:rPr lang="en-US" sz="1400" dirty="0">
                <a:solidFill>
                  <a:srgbClr val="0F172B"/>
                </a:solidFill>
                <a:latin typeface="Arial" pitchFamily="34" charset="0"/>
                <a:ea typeface="Arial" pitchFamily="34" charset="-122"/>
                <a:cs typeface="Arial" pitchFamily="34" charset="-120"/>
              </a:rPr>
              <a:t>requests from staff</a:t>
            </a:r>
            <a:endParaRPr lang="en-US" sz="1400" dirty="0"/>
          </a:p>
        </p:txBody>
      </p:sp>
      <p:sp>
        <p:nvSpPr>
          <p:cNvPr id="8" name="Text 6"/>
          <p:cNvSpPr/>
          <p:nvPr/>
        </p:nvSpPr>
        <p:spPr>
          <a:xfrm>
            <a:off x="685800" y="2761488"/>
            <a:ext cx="10817352" cy="896112"/>
          </a:xfrm>
          <a:prstGeom prst="rect">
            <a:avLst/>
          </a:prstGeom>
          <a:solidFill>
            <a:srgbClr val="EAF6EF"/>
          </a:solidFill>
          <a:ln w="15875">
            <a:solidFill>
              <a:srgbClr val="0F172B"/>
            </a:solidFill>
            <a:prstDash val="solid"/>
          </a:ln>
        </p:spPr>
        <p:txBody>
          <a:bodyPr wrap="square" lIns="38100" tIns="38100" rIns="38100" bIns="38100" rtlCol="0" anchor="ctr"/>
          <a:lstStyle/>
          <a:p>
            <a:pPr algn="ctr" indent="0" marL="0">
              <a:buNone/>
            </a:pPr>
            <a:r>
              <a:rPr lang="en-US" sz="1500" b="1" dirty="0">
                <a:solidFill>
                  <a:srgbClr val="0F172B"/>
                </a:solidFill>
                <a:latin typeface="Arial" pitchFamily="34" charset="0"/>
                <a:ea typeface="Arial" pitchFamily="34" charset="-122"/>
                <a:cs typeface="Arial" pitchFamily="34" charset="-120"/>
              </a:rPr>
              <a:t>Core web application  —  attendance computation, permission workflow</a:t>
            </a:r>
            <a:endParaRPr lang="en-US" sz="1500" dirty="0"/>
          </a:p>
          <a:p>
            <a:pPr algn="ctr" indent="0" marL="0">
              <a:buNone/>
            </a:pPr>
            <a:r>
              <a:rPr lang="en-US" sz="1500" b="1" dirty="0">
                <a:solidFill>
                  <a:srgbClr val="0F172B"/>
                </a:solidFill>
                <a:latin typeface="Arial" pitchFamily="34" charset="0"/>
                <a:ea typeface="Arial" pitchFamily="34" charset="-122"/>
                <a:cs typeface="Arial" pitchFamily="34" charset="-120"/>
              </a:rPr>
              <a:t>and the synchronisation engine</a:t>
            </a:r>
            <a:endParaRPr lang="en-US" sz="1500" dirty="0"/>
          </a:p>
        </p:txBody>
      </p:sp>
      <p:sp>
        <p:nvSpPr>
          <p:cNvPr id="9" name="Text 7"/>
          <p:cNvSpPr/>
          <p:nvPr/>
        </p:nvSpPr>
        <p:spPr>
          <a:xfrm>
            <a:off x="685800" y="3877056"/>
            <a:ext cx="10817352" cy="713232"/>
          </a:xfrm>
          <a:prstGeom prst="rect">
            <a:avLst/>
          </a:prstGeom>
          <a:solidFill>
            <a:srgbClr val="EAF6EF"/>
          </a:solidFill>
          <a:ln w="15875">
            <a:solidFill>
              <a:srgbClr val="0F172B"/>
            </a:solidFill>
            <a:prstDash val="solid"/>
          </a:ln>
        </p:spPr>
        <p:txBody>
          <a:bodyPr wrap="square" lIns="38100" tIns="38100" rIns="38100" bIns="38100" rtlCol="0" anchor="ctr"/>
          <a:lstStyle/>
          <a:p>
            <a:pPr algn="ctr" indent="0" marL="0">
              <a:buNone/>
            </a:pPr>
            <a:r>
              <a:rPr lang="en-US" sz="1500" dirty="0">
                <a:solidFill>
                  <a:srgbClr val="0F172B"/>
                </a:solidFill>
                <a:latin typeface="Arial" pitchFamily="34" charset="0"/>
                <a:ea typeface="Arial" pitchFamily="34" charset="-122"/>
                <a:cs typeface="Arial" pitchFamily="34" charset="-120"/>
              </a:rPr>
              <a:t>MySQL database  —  one authoritative attendance record per employee, per day</a:t>
            </a:r>
            <a:endParaRPr lang="en-US" sz="1500" dirty="0"/>
          </a:p>
        </p:txBody>
      </p:sp>
      <p:sp>
        <p:nvSpPr>
          <p:cNvPr id="10" name="Text 8"/>
          <p:cNvSpPr/>
          <p:nvPr/>
        </p:nvSpPr>
        <p:spPr>
          <a:xfrm>
            <a:off x="685800" y="4992624"/>
            <a:ext cx="3319272" cy="841248"/>
          </a:xfrm>
          <a:prstGeom prst="rect">
            <a:avLst/>
          </a:prstGeom>
          <a:solidFill>
            <a:srgbClr val="FFFFFF"/>
          </a:solidFill>
          <a:ln w="15875">
            <a:solidFill>
              <a:srgbClr val="0F172B"/>
            </a:solidFill>
            <a:prstDash val="solid"/>
          </a:ln>
        </p:spPr>
        <p:txBody>
          <a:bodyPr wrap="square" lIns="38100" tIns="38100" rIns="38100" bIns="38100" rtlCol="0" anchor="ctr"/>
          <a:lstStyle/>
          <a:p>
            <a:pPr algn="ctr" indent="0" marL="0">
              <a:buNone/>
            </a:pPr>
            <a:r>
              <a:rPr lang="en-US" sz="1400" dirty="0">
                <a:solidFill>
                  <a:srgbClr val="0F172B"/>
                </a:solidFill>
                <a:latin typeface="Arial" pitchFamily="34" charset="0"/>
                <a:ea typeface="Arial" pitchFamily="34" charset="-122"/>
                <a:cs typeface="Arial" pitchFamily="34" charset="-120"/>
              </a:rPr>
              <a:t>Analysis service</a:t>
            </a:r>
            <a:endParaRPr lang="en-US" sz="1400" dirty="0"/>
          </a:p>
          <a:p>
            <a:pPr algn="ctr" indent="0" marL="0">
              <a:buNone/>
            </a:pPr>
            <a:r>
              <a:rPr lang="en-US" sz="1400" dirty="0">
                <a:solidFill>
                  <a:srgbClr val="0F172B"/>
                </a:solidFill>
                <a:latin typeface="Arial" pitchFamily="34" charset="0"/>
                <a:ea typeface="Arial" pitchFamily="34" charset="-122"/>
                <a:cs typeface="Arial" pitchFamily="34" charset="-120"/>
              </a:rPr>
              <a:t>anomalies and risk scores</a:t>
            </a:r>
            <a:endParaRPr lang="en-US" sz="1400" dirty="0"/>
          </a:p>
        </p:txBody>
      </p:sp>
      <p:sp>
        <p:nvSpPr>
          <p:cNvPr id="11" name="Text 9"/>
          <p:cNvSpPr/>
          <p:nvPr/>
        </p:nvSpPr>
        <p:spPr>
          <a:xfrm>
            <a:off x="4434840" y="4992624"/>
            <a:ext cx="3319272" cy="841248"/>
          </a:xfrm>
          <a:prstGeom prst="rect">
            <a:avLst/>
          </a:prstGeom>
          <a:solidFill>
            <a:srgbClr val="FFFFFF"/>
          </a:solidFill>
          <a:ln w="15875">
            <a:solidFill>
              <a:srgbClr val="CBD5E1"/>
            </a:solidFill>
            <a:prstDash val="dash"/>
          </a:ln>
        </p:spPr>
        <p:txBody>
          <a:bodyPr wrap="square" lIns="38100" tIns="38100" rIns="38100" bIns="38100" rtlCol="0" anchor="ctr"/>
          <a:lstStyle/>
          <a:p>
            <a:pPr algn="ctr" indent="0" marL="0">
              <a:buNone/>
            </a:pPr>
            <a:r>
              <a:rPr lang="en-US" sz="1400" dirty="0">
                <a:solidFill>
                  <a:srgbClr val="64748B"/>
                </a:solidFill>
                <a:latin typeface="Arial" pitchFamily="34" charset="0"/>
                <a:ea typeface="Arial" pitchFamily="34" charset="-122"/>
                <a:cs typeface="Arial" pitchFamily="34" charset="-120"/>
              </a:rPr>
              <a:t>External language model</a:t>
            </a:r>
            <a:endParaRPr lang="en-US" sz="1400" dirty="0"/>
          </a:p>
          <a:p>
            <a:pPr algn="ctr" indent="0" marL="0">
              <a:buNone/>
            </a:pPr>
            <a:r>
              <a:rPr lang="en-US" sz="1400" dirty="0">
                <a:solidFill>
                  <a:srgbClr val="64748B"/>
                </a:solidFill>
                <a:latin typeface="Arial" pitchFamily="34" charset="0"/>
                <a:ea typeface="Arial" pitchFamily="34" charset="-122"/>
                <a:cs typeface="Arial" pitchFamily="34" charset="-120"/>
              </a:rPr>
              <a:t>aggregate statistics only</a:t>
            </a:r>
            <a:endParaRPr lang="en-US" sz="1400" dirty="0"/>
          </a:p>
        </p:txBody>
      </p:sp>
      <p:sp>
        <p:nvSpPr>
          <p:cNvPr id="12" name="Text 10"/>
          <p:cNvSpPr/>
          <p:nvPr/>
        </p:nvSpPr>
        <p:spPr>
          <a:xfrm>
            <a:off x="8183880" y="4992624"/>
            <a:ext cx="3319272" cy="841248"/>
          </a:xfrm>
          <a:prstGeom prst="rect">
            <a:avLst/>
          </a:prstGeom>
          <a:solidFill>
            <a:srgbClr val="FFFFFF"/>
          </a:solidFill>
          <a:ln w="15875">
            <a:solidFill>
              <a:srgbClr val="0F172B"/>
            </a:solidFill>
            <a:prstDash val="solid"/>
          </a:ln>
        </p:spPr>
        <p:txBody>
          <a:bodyPr wrap="square" lIns="38100" tIns="38100" rIns="38100" bIns="38100" rtlCol="0" anchor="ctr"/>
          <a:lstStyle/>
          <a:p>
            <a:pPr algn="ctr" indent="0" marL="0">
              <a:buNone/>
            </a:pPr>
            <a:r>
              <a:rPr lang="en-US" sz="1400" dirty="0">
                <a:solidFill>
                  <a:srgbClr val="0F172B"/>
                </a:solidFill>
                <a:latin typeface="Arial" pitchFamily="34" charset="0"/>
                <a:ea typeface="Arial" pitchFamily="34" charset="-122"/>
                <a:cs typeface="Arial" pitchFamily="34" charset="-120"/>
              </a:rPr>
              <a:t>Reports, exports, dashboards</a:t>
            </a:r>
            <a:endParaRPr lang="en-US" sz="1400" dirty="0"/>
          </a:p>
          <a:p>
            <a:pPr algn="ctr" indent="0" marL="0">
              <a:buNone/>
            </a:pPr>
            <a:r>
              <a:rPr lang="en-US" sz="1400" dirty="0">
                <a:solidFill>
                  <a:srgbClr val="0F172B"/>
                </a:solidFill>
                <a:latin typeface="Arial" pitchFamily="34" charset="0"/>
                <a:ea typeface="Arial" pitchFamily="34" charset="-122"/>
                <a:cs typeface="Arial" pitchFamily="34" charset="-120"/>
              </a:rPr>
              <a:t>and notifications by role</a:t>
            </a:r>
            <a:endParaRPr lang="en-US" sz="1400" dirty="0"/>
          </a:p>
        </p:txBody>
      </p:sp>
      <p:sp>
        <p:nvSpPr>
          <p:cNvPr id="13" name="Shape 11"/>
          <p:cNvSpPr/>
          <p:nvPr/>
        </p:nvSpPr>
        <p:spPr>
          <a:xfrm>
            <a:off x="2345436" y="2487168"/>
            <a:ext cx="0" cy="274320"/>
          </a:xfrm>
          <a:prstGeom prst="line">
            <a:avLst/>
          </a:prstGeom>
          <a:noFill/>
          <a:ln w="15875">
            <a:solidFill>
              <a:srgbClr val="0F172B"/>
            </a:solidFill>
            <a:prstDash val="solid"/>
            <a:headEnd type="none"/>
            <a:tailEnd type="triangle"/>
          </a:ln>
        </p:spPr>
      </p:sp>
      <p:sp>
        <p:nvSpPr>
          <p:cNvPr id="14" name="Shape 12"/>
          <p:cNvSpPr/>
          <p:nvPr/>
        </p:nvSpPr>
        <p:spPr>
          <a:xfrm>
            <a:off x="6094476" y="2487168"/>
            <a:ext cx="0" cy="274320"/>
          </a:xfrm>
          <a:prstGeom prst="line">
            <a:avLst/>
          </a:prstGeom>
          <a:noFill/>
          <a:ln w="15875">
            <a:solidFill>
              <a:srgbClr val="0F172B"/>
            </a:solidFill>
            <a:prstDash val="solid"/>
            <a:headEnd type="none"/>
            <a:tailEnd type="triangle"/>
          </a:ln>
        </p:spPr>
      </p:sp>
      <p:sp>
        <p:nvSpPr>
          <p:cNvPr id="15" name="Shape 13"/>
          <p:cNvSpPr/>
          <p:nvPr/>
        </p:nvSpPr>
        <p:spPr>
          <a:xfrm>
            <a:off x="9843516" y="2487168"/>
            <a:ext cx="0" cy="274320"/>
          </a:xfrm>
          <a:prstGeom prst="line">
            <a:avLst/>
          </a:prstGeom>
          <a:noFill/>
          <a:ln w="15875">
            <a:solidFill>
              <a:srgbClr val="0F172B"/>
            </a:solidFill>
            <a:prstDash val="solid"/>
            <a:headEnd type="none"/>
            <a:tailEnd type="triangle"/>
          </a:ln>
        </p:spPr>
      </p:sp>
      <p:sp>
        <p:nvSpPr>
          <p:cNvPr id="16" name="Shape 14"/>
          <p:cNvSpPr/>
          <p:nvPr/>
        </p:nvSpPr>
        <p:spPr>
          <a:xfrm>
            <a:off x="6094476" y="3657600"/>
            <a:ext cx="0" cy="219456"/>
          </a:xfrm>
          <a:prstGeom prst="line">
            <a:avLst/>
          </a:prstGeom>
          <a:noFill/>
          <a:ln w="15875">
            <a:solidFill>
              <a:srgbClr val="0F172B"/>
            </a:solidFill>
            <a:prstDash val="solid"/>
            <a:headEnd type="none"/>
            <a:tailEnd type="triangle"/>
          </a:ln>
        </p:spPr>
      </p:sp>
      <p:sp>
        <p:nvSpPr>
          <p:cNvPr id="17" name="Shape 15"/>
          <p:cNvSpPr/>
          <p:nvPr/>
        </p:nvSpPr>
        <p:spPr>
          <a:xfrm>
            <a:off x="2345436" y="4590288"/>
            <a:ext cx="0" cy="402336"/>
          </a:xfrm>
          <a:prstGeom prst="line">
            <a:avLst/>
          </a:prstGeom>
          <a:noFill/>
          <a:ln w="15875">
            <a:solidFill>
              <a:srgbClr val="0F172B"/>
            </a:solidFill>
            <a:prstDash val="solid"/>
            <a:headEnd type="triangle"/>
            <a:tailEnd type="triangle"/>
          </a:ln>
        </p:spPr>
      </p:sp>
      <p:sp>
        <p:nvSpPr>
          <p:cNvPr id="18" name="Shape 16"/>
          <p:cNvSpPr/>
          <p:nvPr/>
        </p:nvSpPr>
        <p:spPr>
          <a:xfrm>
            <a:off x="9843516" y="4590288"/>
            <a:ext cx="0" cy="402336"/>
          </a:xfrm>
          <a:prstGeom prst="line">
            <a:avLst/>
          </a:prstGeom>
          <a:noFill/>
          <a:ln w="15875">
            <a:solidFill>
              <a:srgbClr val="0F172B"/>
            </a:solidFill>
            <a:prstDash val="solid"/>
            <a:headEnd type="none"/>
            <a:tailEnd type="triangle"/>
          </a:ln>
        </p:spPr>
      </p:sp>
      <p:sp>
        <p:nvSpPr>
          <p:cNvPr id="19" name="Shape 17"/>
          <p:cNvSpPr/>
          <p:nvPr/>
        </p:nvSpPr>
        <p:spPr>
          <a:xfrm>
            <a:off x="4005072" y="5413248"/>
            <a:ext cx="429768" cy="0"/>
          </a:xfrm>
          <a:prstGeom prst="line">
            <a:avLst/>
          </a:prstGeom>
          <a:noFill/>
          <a:ln w="15875">
            <a:solidFill>
              <a:srgbClr val="0F172B"/>
            </a:solidFill>
            <a:prstDash val="solid"/>
            <a:headEnd type="none"/>
            <a:tailEnd type="triangle"/>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The Application — Recording and Requesting</a:t>
            </a:r>
            <a:endParaRPr lang="en-US" sz="3200" dirty="0"/>
          </a:p>
        </p:txBody>
      </p:sp>
      <p:sp>
        <p:nvSpPr>
          <p:cNvPr id="4" name="Shape 2"/>
          <p:cNvSpPr/>
          <p:nvPr/>
        </p:nvSpPr>
        <p:spPr>
          <a:xfrm>
            <a:off x="685800" y="1645920"/>
            <a:ext cx="3328416" cy="4343400"/>
          </a:xfrm>
          <a:prstGeom prst="roundRect">
            <a:avLst>
              <a:gd name="adj" fmla="val 1099"/>
            </a:avLst>
          </a:prstGeom>
          <a:solidFill>
            <a:srgbClr val="F8FAFC"/>
          </a:solidFill>
          <a:ln w="15875">
            <a:solidFill>
              <a:srgbClr val="CBD5E1"/>
            </a:solidFill>
            <a:prstDash val="dash"/>
          </a:ln>
        </p:spPr>
      </p:sp>
      <p:sp>
        <p:nvSpPr>
          <p:cNvPr id="5" name="Shape 3"/>
          <p:cNvSpPr/>
          <p:nvPr/>
        </p:nvSpPr>
        <p:spPr>
          <a:xfrm>
            <a:off x="850392" y="1810512"/>
            <a:ext cx="384048" cy="384048"/>
          </a:xfrm>
          <a:prstGeom prst="ellipse">
            <a:avLst/>
          </a:prstGeom>
          <a:solidFill>
            <a:srgbClr val="147A4C"/>
          </a:solidFill>
          <a:ln w="12700">
            <a:solidFill>
              <a:srgbClr val="147A4C"/>
            </a:solidFill>
            <a:prstDash val="solid"/>
          </a:ln>
        </p:spPr>
      </p:sp>
      <p:sp>
        <p:nvSpPr>
          <p:cNvPr id="6" name="Text 4"/>
          <p:cNvSpPr/>
          <p:nvPr/>
        </p:nvSpPr>
        <p:spPr>
          <a:xfrm>
            <a:off x="850392" y="1810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777240" y="3246120"/>
            <a:ext cx="3145536" cy="365760"/>
          </a:xfrm>
          <a:prstGeom prst="rect">
            <a:avLst/>
          </a:prstGeom>
          <a:noFill/>
          <a:ln/>
        </p:spPr>
        <p:txBody>
          <a:bodyPr wrap="square" lIns="0" tIns="0" rIns="0" bIns="0"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  screenshot  ]</a:t>
            </a:r>
            <a:endParaRPr lang="en-US" sz="1400" dirty="0"/>
          </a:p>
        </p:txBody>
      </p:sp>
      <p:sp>
        <p:nvSpPr>
          <p:cNvPr id="8" name="Text 6"/>
          <p:cNvSpPr/>
          <p:nvPr/>
        </p:nvSpPr>
        <p:spPr>
          <a:xfrm>
            <a:off x="822960" y="3749040"/>
            <a:ext cx="3054096" cy="411480"/>
          </a:xfrm>
          <a:prstGeom prst="rect">
            <a:avLst/>
          </a:prstGeom>
          <a:noFill/>
          <a:ln/>
        </p:spPr>
        <p:txBody>
          <a:bodyPr wrap="square" lIns="0" tIns="0" rIns="0" bIns="0" rtlCol="0" anchor="ctr"/>
          <a:lstStyle/>
          <a:p>
            <a:pPr algn="ctr" indent="0" marL="0">
              <a:buNone/>
            </a:pPr>
            <a:r>
              <a:rPr lang="en-US" sz="1800" b="1" dirty="0">
                <a:solidFill>
                  <a:srgbClr val="0F172B"/>
                </a:solidFill>
                <a:latin typeface="Arial" pitchFamily="34" charset="0"/>
                <a:ea typeface="Arial" pitchFamily="34" charset="-122"/>
                <a:cs typeface="Arial" pitchFamily="34" charset="-120"/>
              </a:rPr>
              <a:t>Registration and sign-in</a:t>
            </a:r>
            <a:endParaRPr lang="en-US" sz="1800" dirty="0"/>
          </a:p>
        </p:txBody>
      </p:sp>
      <p:sp>
        <p:nvSpPr>
          <p:cNvPr id="9" name="Text 7"/>
          <p:cNvSpPr/>
          <p:nvPr/>
        </p:nvSpPr>
        <p:spPr>
          <a:xfrm>
            <a:off x="886968" y="4206240"/>
            <a:ext cx="2926080" cy="1600200"/>
          </a:xfrm>
          <a:prstGeom prst="rect">
            <a:avLst/>
          </a:prstGeom>
          <a:noFill/>
          <a:ln/>
        </p:spPr>
        <p:txBody>
          <a:bodyPr wrap="square" lIns="0" tIns="0" rIns="0" bIns="0" rtlCol="0" anchor="t"/>
          <a:lstStyle/>
          <a:p>
            <a:pPr algn="ctr" indent="0" marL="0">
              <a:lnSpc>
                <a:spcPct val="115000"/>
              </a:lnSpc>
              <a:buNone/>
            </a:pPr>
            <a:r>
              <a:rPr lang="en-US" sz="1400" dirty="0">
                <a:solidFill>
                  <a:srgbClr val="64748B"/>
                </a:solidFill>
                <a:latin typeface="Arial" pitchFamily="34" charset="0"/>
                <a:ea typeface="Arial" pitchFamily="34" charset="-122"/>
                <a:cs typeface="Arial" pitchFamily="34" charset="-120"/>
              </a:rPr>
              <a:t>Accounts are created by invitation. An officer supplies the employee code, department and schedule, and approval issues a single-use activation link.</a:t>
            </a:r>
            <a:endParaRPr lang="en-US" sz="1400" dirty="0"/>
          </a:p>
        </p:txBody>
      </p:sp>
      <p:sp>
        <p:nvSpPr>
          <p:cNvPr id="10" name="Shape 8"/>
          <p:cNvSpPr/>
          <p:nvPr/>
        </p:nvSpPr>
        <p:spPr>
          <a:xfrm>
            <a:off x="4425696" y="1645920"/>
            <a:ext cx="3328416" cy="4343400"/>
          </a:xfrm>
          <a:prstGeom prst="roundRect">
            <a:avLst>
              <a:gd name="adj" fmla="val 1099"/>
            </a:avLst>
          </a:prstGeom>
          <a:solidFill>
            <a:srgbClr val="F8FAFC"/>
          </a:solidFill>
          <a:ln w="15875">
            <a:solidFill>
              <a:srgbClr val="CBD5E1"/>
            </a:solidFill>
            <a:prstDash val="dash"/>
          </a:ln>
        </p:spPr>
      </p:sp>
      <p:sp>
        <p:nvSpPr>
          <p:cNvPr id="11" name="Shape 9"/>
          <p:cNvSpPr/>
          <p:nvPr/>
        </p:nvSpPr>
        <p:spPr>
          <a:xfrm>
            <a:off x="4590288" y="1810512"/>
            <a:ext cx="384048" cy="384048"/>
          </a:xfrm>
          <a:prstGeom prst="ellipse">
            <a:avLst/>
          </a:prstGeom>
          <a:solidFill>
            <a:srgbClr val="147A4C"/>
          </a:solidFill>
          <a:ln w="12700">
            <a:solidFill>
              <a:srgbClr val="147A4C"/>
            </a:solidFill>
            <a:prstDash val="solid"/>
          </a:ln>
        </p:spPr>
      </p:sp>
      <p:sp>
        <p:nvSpPr>
          <p:cNvPr id="12" name="Text 10"/>
          <p:cNvSpPr/>
          <p:nvPr/>
        </p:nvSpPr>
        <p:spPr>
          <a:xfrm>
            <a:off x="4590288" y="1810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4517136" y="3246120"/>
            <a:ext cx="3145536" cy="365760"/>
          </a:xfrm>
          <a:prstGeom prst="rect">
            <a:avLst/>
          </a:prstGeom>
          <a:noFill/>
          <a:ln/>
        </p:spPr>
        <p:txBody>
          <a:bodyPr wrap="square" lIns="0" tIns="0" rIns="0" bIns="0"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  screenshot  ]</a:t>
            </a:r>
            <a:endParaRPr lang="en-US" sz="1400" dirty="0"/>
          </a:p>
        </p:txBody>
      </p:sp>
      <p:sp>
        <p:nvSpPr>
          <p:cNvPr id="14" name="Text 12"/>
          <p:cNvSpPr/>
          <p:nvPr/>
        </p:nvSpPr>
        <p:spPr>
          <a:xfrm>
            <a:off x="4562856" y="3749040"/>
            <a:ext cx="3054096" cy="411480"/>
          </a:xfrm>
          <a:prstGeom prst="rect">
            <a:avLst/>
          </a:prstGeom>
          <a:noFill/>
          <a:ln/>
        </p:spPr>
        <p:txBody>
          <a:bodyPr wrap="square" lIns="0" tIns="0" rIns="0" bIns="0" rtlCol="0" anchor="ctr"/>
          <a:lstStyle/>
          <a:p>
            <a:pPr algn="ctr" indent="0" marL="0">
              <a:buNone/>
            </a:pPr>
            <a:r>
              <a:rPr lang="en-US" sz="1800" b="1" dirty="0">
                <a:solidFill>
                  <a:srgbClr val="0F172B"/>
                </a:solidFill>
                <a:latin typeface="Arial" pitchFamily="34" charset="0"/>
                <a:ea typeface="Arial" pitchFamily="34" charset="-122"/>
                <a:cs typeface="Arial" pitchFamily="34" charset="-120"/>
              </a:rPr>
              <a:t>Employee attendance view</a:t>
            </a:r>
            <a:endParaRPr lang="en-US" sz="1800" dirty="0"/>
          </a:p>
        </p:txBody>
      </p:sp>
      <p:sp>
        <p:nvSpPr>
          <p:cNvPr id="15" name="Text 13"/>
          <p:cNvSpPr/>
          <p:nvPr/>
        </p:nvSpPr>
        <p:spPr>
          <a:xfrm>
            <a:off x="4626864" y="4206240"/>
            <a:ext cx="2926080" cy="1600200"/>
          </a:xfrm>
          <a:prstGeom prst="rect">
            <a:avLst/>
          </a:prstGeom>
          <a:noFill/>
          <a:ln/>
        </p:spPr>
        <p:txBody>
          <a:bodyPr wrap="square" lIns="0" tIns="0" rIns="0" bIns="0" rtlCol="0" anchor="t"/>
          <a:lstStyle/>
          <a:p>
            <a:pPr algn="ctr" indent="0" marL="0">
              <a:lnSpc>
                <a:spcPct val="115000"/>
              </a:lnSpc>
              <a:buNone/>
            </a:pPr>
            <a:r>
              <a:rPr lang="en-US" sz="1400" dirty="0">
                <a:solidFill>
                  <a:srgbClr val="64748B"/>
                </a:solidFill>
                <a:latin typeface="Arial" pitchFamily="34" charset="0"/>
                <a:ea typeface="Arial" pitchFamily="34" charset="-122"/>
                <a:cs typeface="Arial" pitchFamily="34" charset="-120"/>
              </a:rPr>
              <a:t>The employee sees only their own calendar, requests and notifications. Each day shows the status computed from the punches at the terminal.</a:t>
            </a:r>
            <a:endParaRPr lang="en-US" sz="1400" dirty="0"/>
          </a:p>
        </p:txBody>
      </p:sp>
      <p:sp>
        <p:nvSpPr>
          <p:cNvPr id="16" name="Shape 14"/>
          <p:cNvSpPr/>
          <p:nvPr/>
        </p:nvSpPr>
        <p:spPr>
          <a:xfrm>
            <a:off x="8174736" y="1645920"/>
            <a:ext cx="3328416" cy="4343400"/>
          </a:xfrm>
          <a:prstGeom prst="roundRect">
            <a:avLst>
              <a:gd name="adj" fmla="val 1099"/>
            </a:avLst>
          </a:prstGeom>
          <a:solidFill>
            <a:srgbClr val="F8FAFC"/>
          </a:solidFill>
          <a:ln w="15875">
            <a:solidFill>
              <a:srgbClr val="CBD5E1"/>
            </a:solidFill>
            <a:prstDash val="dash"/>
          </a:ln>
        </p:spPr>
      </p:sp>
      <p:sp>
        <p:nvSpPr>
          <p:cNvPr id="17" name="Shape 15"/>
          <p:cNvSpPr/>
          <p:nvPr/>
        </p:nvSpPr>
        <p:spPr>
          <a:xfrm>
            <a:off x="8339328" y="1810512"/>
            <a:ext cx="384048" cy="384048"/>
          </a:xfrm>
          <a:prstGeom prst="ellipse">
            <a:avLst/>
          </a:prstGeom>
          <a:solidFill>
            <a:srgbClr val="147A4C"/>
          </a:solidFill>
          <a:ln w="12700">
            <a:solidFill>
              <a:srgbClr val="147A4C"/>
            </a:solidFill>
            <a:prstDash val="solid"/>
          </a:ln>
        </p:spPr>
      </p:sp>
      <p:sp>
        <p:nvSpPr>
          <p:cNvPr id="18" name="Text 16"/>
          <p:cNvSpPr/>
          <p:nvPr/>
        </p:nvSpPr>
        <p:spPr>
          <a:xfrm>
            <a:off x="8339328" y="1810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8266176" y="3246120"/>
            <a:ext cx="3145536" cy="365760"/>
          </a:xfrm>
          <a:prstGeom prst="rect">
            <a:avLst/>
          </a:prstGeom>
          <a:noFill/>
          <a:ln/>
        </p:spPr>
        <p:txBody>
          <a:bodyPr wrap="square" lIns="0" tIns="0" rIns="0" bIns="0"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  screenshot  ]</a:t>
            </a:r>
            <a:endParaRPr lang="en-US" sz="1400" dirty="0"/>
          </a:p>
        </p:txBody>
      </p:sp>
      <p:sp>
        <p:nvSpPr>
          <p:cNvPr id="20" name="Text 18"/>
          <p:cNvSpPr/>
          <p:nvPr/>
        </p:nvSpPr>
        <p:spPr>
          <a:xfrm>
            <a:off x="8311896" y="3749040"/>
            <a:ext cx="3054096" cy="411480"/>
          </a:xfrm>
          <a:prstGeom prst="rect">
            <a:avLst/>
          </a:prstGeom>
          <a:noFill/>
          <a:ln/>
        </p:spPr>
        <p:txBody>
          <a:bodyPr wrap="square" lIns="0" tIns="0" rIns="0" bIns="0" rtlCol="0" anchor="ctr"/>
          <a:lstStyle/>
          <a:p>
            <a:pPr algn="ctr" indent="0" marL="0">
              <a:buNone/>
            </a:pPr>
            <a:r>
              <a:rPr lang="en-US" sz="1800" b="1" dirty="0">
                <a:solidFill>
                  <a:srgbClr val="0F172B"/>
                </a:solidFill>
                <a:latin typeface="Arial" pitchFamily="34" charset="0"/>
                <a:ea typeface="Arial" pitchFamily="34" charset="-122"/>
                <a:cs typeface="Arial" pitchFamily="34" charset="-120"/>
              </a:rPr>
              <a:t>Submitting a request</a:t>
            </a:r>
            <a:endParaRPr lang="en-US" sz="1800" dirty="0"/>
          </a:p>
        </p:txBody>
      </p:sp>
      <p:sp>
        <p:nvSpPr>
          <p:cNvPr id="21" name="Text 19"/>
          <p:cNvSpPr/>
          <p:nvPr/>
        </p:nvSpPr>
        <p:spPr>
          <a:xfrm>
            <a:off x="8375904" y="4206240"/>
            <a:ext cx="2926080" cy="1600200"/>
          </a:xfrm>
          <a:prstGeom prst="rect">
            <a:avLst/>
          </a:prstGeom>
          <a:noFill/>
          <a:ln/>
        </p:spPr>
        <p:txBody>
          <a:bodyPr wrap="square" lIns="0" tIns="0" rIns="0" bIns="0" rtlCol="0" anchor="t"/>
          <a:lstStyle/>
          <a:p>
            <a:pPr algn="ctr" indent="0" marL="0">
              <a:lnSpc>
                <a:spcPct val="115000"/>
              </a:lnSpc>
              <a:buNone/>
            </a:pPr>
            <a:r>
              <a:rPr lang="en-US" sz="1400" dirty="0">
                <a:solidFill>
                  <a:srgbClr val="64748B"/>
                </a:solidFill>
                <a:latin typeface="Arial" pitchFamily="34" charset="0"/>
                <a:ea typeface="Arial" pitchFamily="34" charset="-122"/>
                <a:cs typeface="Arial" pitchFamily="34" charset="-120"/>
              </a:rPr>
              <a:t>The employee chooses official leave, sick leave, permission or field duty, states the dates and reason, and attaches supporting evidence.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The Application — Approval and Insight</a:t>
            </a:r>
            <a:endParaRPr lang="en-US" sz="3200" dirty="0"/>
          </a:p>
        </p:txBody>
      </p:sp>
      <p:sp>
        <p:nvSpPr>
          <p:cNvPr id="4" name="Shape 2"/>
          <p:cNvSpPr/>
          <p:nvPr/>
        </p:nvSpPr>
        <p:spPr>
          <a:xfrm>
            <a:off x="685800" y="1645920"/>
            <a:ext cx="3328416" cy="4343400"/>
          </a:xfrm>
          <a:prstGeom prst="roundRect">
            <a:avLst>
              <a:gd name="adj" fmla="val 1099"/>
            </a:avLst>
          </a:prstGeom>
          <a:solidFill>
            <a:srgbClr val="F8FAFC"/>
          </a:solidFill>
          <a:ln w="15875">
            <a:solidFill>
              <a:srgbClr val="CBD5E1"/>
            </a:solidFill>
            <a:prstDash val="dash"/>
          </a:ln>
        </p:spPr>
      </p:sp>
      <p:sp>
        <p:nvSpPr>
          <p:cNvPr id="5" name="Shape 3"/>
          <p:cNvSpPr/>
          <p:nvPr/>
        </p:nvSpPr>
        <p:spPr>
          <a:xfrm>
            <a:off x="850392" y="1810512"/>
            <a:ext cx="384048" cy="384048"/>
          </a:xfrm>
          <a:prstGeom prst="ellipse">
            <a:avLst/>
          </a:prstGeom>
          <a:solidFill>
            <a:srgbClr val="147A4C"/>
          </a:solidFill>
          <a:ln w="12700">
            <a:solidFill>
              <a:srgbClr val="147A4C"/>
            </a:solidFill>
            <a:prstDash val="solid"/>
          </a:ln>
        </p:spPr>
      </p:sp>
      <p:sp>
        <p:nvSpPr>
          <p:cNvPr id="6" name="Text 4"/>
          <p:cNvSpPr/>
          <p:nvPr/>
        </p:nvSpPr>
        <p:spPr>
          <a:xfrm>
            <a:off x="850392" y="1810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7" name="Text 5"/>
          <p:cNvSpPr/>
          <p:nvPr/>
        </p:nvSpPr>
        <p:spPr>
          <a:xfrm>
            <a:off x="777240" y="3246120"/>
            <a:ext cx="3145536" cy="365760"/>
          </a:xfrm>
          <a:prstGeom prst="rect">
            <a:avLst/>
          </a:prstGeom>
          <a:noFill/>
          <a:ln/>
        </p:spPr>
        <p:txBody>
          <a:bodyPr wrap="square" lIns="0" tIns="0" rIns="0" bIns="0"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  screenshot  ]</a:t>
            </a:r>
            <a:endParaRPr lang="en-US" sz="1400" dirty="0"/>
          </a:p>
        </p:txBody>
      </p:sp>
      <p:sp>
        <p:nvSpPr>
          <p:cNvPr id="8" name="Text 6"/>
          <p:cNvSpPr/>
          <p:nvPr/>
        </p:nvSpPr>
        <p:spPr>
          <a:xfrm>
            <a:off x="822960" y="3749040"/>
            <a:ext cx="3054096" cy="411480"/>
          </a:xfrm>
          <a:prstGeom prst="rect">
            <a:avLst/>
          </a:prstGeom>
          <a:noFill/>
          <a:ln/>
        </p:spPr>
        <p:txBody>
          <a:bodyPr wrap="square" lIns="0" tIns="0" rIns="0" bIns="0" rtlCol="0" anchor="ctr"/>
          <a:lstStyle/>
          <a:p>
            <a:pPr algn="ctr" indent="0" marL="0">
              <a:buNone/>
            </a:pPr>
            <a:r>
              <a:rPr lang="en-US" sz="1800" b="1" dirty="0">
                <a:solidFill>
                  <a:srgbClr val="0F172B"/>
                </a:solidFill>
                <a:latin typeface="Arial" pitchFamily="34" charset="0"/>
                <a:ea typeface="Arial" pitchFamily="34" charset="-122"/>
                <a:cs typeface="Arial" pitchFamily="34" charset="-120"/>
              </a:rPr>
              <a:t>HR review and approval</a:t>
            </a:r>
            <a:endParaRPr lang="en-US" sz="1800" dirty="0"/>
          </a:p>
        </p:txBody>
      </p:sp>
      <p:sp>
        <p:nvSpPr>
          <p:cNvPr id="9" name="Text 7"/>
          <p:cNvSpPr/>
          <p:nvPr/>
        </p:nvSpPr>
        <p:spPr>
          <a:xfrm>
            <a:off x="886968" y="4206240"/>
            <a:ext cx="2926080" cy="1600200"/>
          </a:xfrm>
          <a:prstGeom prst="rect">
            <a:avLst/>
          </a:prstGeom>
          <a:noFill/>
          <a:ln/>
        </p:spPr>
        <p:txBody>
          <a:bodyPr wrap="square" lIns="0" tIns="0" rIns="0" bIns="0" rtlCol="0" anchor="t"/>
          <a:lstStyle/>
          <a:p>
            <a:pPr algn="ctr" indent="0" marL="0">
              <a:lnSpc>
                <a:spcPct val="115000"/>
              </a:lnSpc>
              <a:buNone/>
            </a:pPr>
            <a:r>
              <a:rPr lang="en-US" sz="1400" dirty="0">
                <a:solidFill>
                  <a:srgbClr val="64748B"/>
                </a:solidFill>
                <a:latin typeface="Arial" pitchFamily="34" charset="0"/>
                <a:ea typeface="Arial" pitchFamily="34" charset="-122"/>
                <a:cs typeface="Arial" pitchFamily="34" charset="-120"/>
              </a:rPr>
              <a:t>An officer approves or rejects from the review queue. The decision returns immediately, and synchronisation runs behind it on a queue.</a:t>
            </a:r>
            <a:endParaRPr lang="en-US" sz="1400" dirty="0"/>
          </a:p>
        </p:txBody>
      </p:sp>
      <p:sp>
        <p:nvSpPr>
          <p:cNvPr id="10" name="Shape 8"/>
          <p:cNvSpPr/>
          <p:nvPr/>
        </p:nvSpPr>
        <p:spPr>
          <a:xfrm>
            <a:off x="4425696" y="1645920"/>
            <a:ext cx="3328416" cy="4343400"/>
          </a:xfrm>
          <a:prstGeom prst="roundRect">
            <a:avLst>
              <a:gd name="adj" fmla="val 1099"/>
            </a:avLst>
          </a:prstGeom>
          <a:solidFill>
            <a:srgbClr val="F8FAFC"/>
          </a:solidFill>
          <a:ln w="15875">
            <a:solidFill>
              <a:srgbClr val="CBD5E1"/>
            </a:solidFill>
            <a:prstDash val="dash"/>
          </a:ln>
        </p:spPr>
      </p:sp>
      <p:sp>
        <p:nvSpPr>
          <p:cNvPr id="11" name="Shape 9"/>
          <p:cNvSpPr/>
          <p:nvPr/>
        </p:nvSpPr>
        <p:spPr>
          <a:xfrm>
            <a:off x="4590288" y="1810512"/>
            <a:ext cx="384048" cy="384048"/>
          </a:xfrm>
          <a:prstGeom prst="ellipse">
            <a:avLst/>
          </a:prstGeom>
          <a:solidFill>
            <a:srgbClr val="147A4C"/>
          </a:solidFill>
          <a:ln w="12700">
            <a:solidFill>
              <a:srgbClr val="147A4C"/>
            </a:solidFill>
            <a:prstDash val="solid"/>
          </a:ln>
        </p:spPr>
      </p:sp>
      <p:sp>
        <p:nvSpPr>
          <p:cNvPr id="12" name="Text 10"/>
          <p:cNvSpPr/>
          <p:nvPr/>
        </p:nvSpPr>
        <p:spPr>
          <a:xfrm>
            <a:off x="4590288" y="1810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3" name="Text 11"/>
          <p:cNvSpPr/>
          <p:nvPr/>
        </p:nvSpPr>
        <p:spPr>
          <a:xfrm>
            <a:off x="4517136" y="3246120"/>
            <a:ext cx="3145536" cy="365760"/>
          </a:xfrm>
          <a:prstGeom prst="rect">
            <a:avLst/>
          </a:prstGeom>
          <a:noFill/>
          <a:ln/>
        </p:spPr>
        <p:txBody>
          <a:bodyPr wrap="square" lIns="0" tIns="0" rIns="0" bIns="0"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  screenshot  ]</a:t>
            </a:r>
            <a:endParaRPr lang="en-US" sz="1400" dirty="0"/>
          </a:p>
        </p:txBody>
      </p:sp>
      <p:sp>
        <p:nvSpPr>
          <p:cNvPr id="14" name="Text 12"/>
          <p:cNvSpPr/>
          <p:nvPr/>
        </p:nvSpPr>
        <p:spPr>
          <a:xfrm>
            <a:off x="4562856" y="3749040"/>
            <a:ext cx="3054096" cy="411480"/>
          </a:xfrm>
          <a:prstGeom prst="rect">
            <a:avLst/>
          </a:prstGeom>
          <a:noFill/>
          <a:ln/>
        </p:spPr>
        <p:txBody>
          <a:bodyPr wrap="square" lIns="0" tIns="0" rIns="0" bIns="0" rtlCol="0" anchor="ctr"/>
          <a:lstStyle/>
          <a:p>
            <a:pPr algn="ctr" indent="0" marL="0">
              <a:buNone/>
            </a:pPr>
            <a:r>
              <a:rPr lang="en-US" sz="1800" b="1" dirty="0">
                <a:solidFill>
                  <a:srgbClr val="0F172B"/>
                </a:solidFill>
                <a:latin typeface="Arial" pitchFamily="34" charset="0"/>
                <a:ea typeface="Arial" pitchFamily="34" charset="-122"/>
                <a:cs typeface="Arial" pitchFamily="34" charset="-120"/>
              </a:rPr>
              <a:t>The corrected record</a:t>
            </a:r>
            <a:endParaRPr lang="en-US" sz="1800" dirty="0"/>
          </a:p>
        </p:txBody>
      </p:sp>
      <p:sp>
        <p:nvSpPr>
          <p:cNvPr id="15" name="Text 13"/>
          <p:cNvSpPr/>
          <p:nvPr/>
        </p:nvSpPr>
        <p:spPr>
          <a:xfrm>
            <a:off x="4626864" y="4206240"/>
            <a:ext cx="2926080" cy="1600200"/>
          </a:xfrm>
          <a:prstGeom prst="rect">
            <a:avLst/>
          </a:prstGeom>
          <a:noFill/>
          <a:ln/>
        </p:spPr>
        <p:txBody>
          <a:bodyPr wrap="square" lIns="0" tIns="0" rIns="0" bIns="0" rtlCol="0" anchor="t"/>
          <a:lstStyle/>
          <a:p>
            <a:pPr algn="ctr" indent="0" marL="0">
              <a:lnSpc>
                <a:spcPct val="115000"/>
              </a:lnSpc>
              <a:buNone/>
            </a:pPr>
            <a:r>
              <a:rPr lang="en-US" sz="1400" dirty="0">
                <a:solidFill>
                  <a:srgbClr val="64748B"/>
                </a:solidFill>
                <a:latin typeface="Arial" pitchFamily="34" charset="0"/>
                <a:ea typeface="Arial" pitchFamily="34" charset="-122"/>
                <a:cs typeface="Arial" pitchFamily="34" charset="-120"/>
              </a:rPr>
              <a:t>The day that previously read Absent now reads the approved leave status, and the audit log records what changed, by which request, and when.</a:t>
            </a:r>
            <a:endParaRPr lang="en-US" sz="1400" dirty="0"/>
          </a:p>
        </p:txBody>
      </p:sp>
      <p:sp>
        <p:nvSpPr>
          <p:cNvPr id="16" name="Shape 14"/>
          <p:cNvSpPr/>
          <p:nvPr/>
        </p:nvSpPr>
        <p:spPr>
          <a:xfrm>
            <a:off x="8174736" y="1645920"/>
            <a:ext cx="3328416" cy="4343400"/>
          </a:xfrm>
          <a:prstGeom prst="roundRect">
            <a:avLst>
              <a:gd name="adj" fmla="val 1099"/>
            </a:avLst>
          </a:prstGeom>
          <a:solidFill>
            <a:srgbClr val="F8FAFC"/>
          </a:solidFill>
          <a:ln w="15875">
            <a:solidFill>
              <a:srgbClr val="CBD5E1"/>
            </a:solidFill>
            <a:prstDash val="dash"/>
          </a:ln>
        </p:spPr>
      </p:sp>
      <p:sp>
        <p:nvSpPr>
          <p:cNvPr id="17" name="Shape 15"/>
          <p:cNvSpPr/>
          <p:nvPr/>
        </p:nvSpPr>
        <p:spPr>
          <a:xfrm>
            <a:off x="8339328" y="1810512"/>
            <a:ext cx="384048" cy="384048"/>
          </a:xfrm>
          <a:prstGeom prst="ellipse">
            <a:avLst/>
          </a:prstGeom>
          <a:solidFill>
            <a:srgbClr val="147A4C"/>
          </a:solidFill>
          <a:ln w="12700">
            <a:solidFill>
              <a:srgbClr val="147A4C"/>
            </a:solidFill>
            <a:prstDash val="solid"/>
          </a:ln>
        </p:spPr>
      </p:sp>
      <p:sp>
        <p:nvSpPr>
          <p:cNvPr id="18" name="Text 16"/>
          <p:cNvSpPr/>
          <p:nvPr/>
        </p:nvSpPr>
        <p:spPr>
          <a:xfrm>
            <a:off x="8339328" y="1810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19" name="Text 17"/>
          <p:cNvSpPr/>
          <p:nvPr/>
        </p:nvSpPr>
        <p:spPr>
          <a:xfrm>
            <a:off x="8266176" y="3246120"/>
            <a:ext cx="3145536" cy="365760"/>
          </a:xfrm>
          <a:prstGeom prst="rect">
            <a:avLst/>
          </a:prstGeom>
          <a:noFill/>
          <a:ln/>
        </p:spPr>
        <p:txBody>
          <a:bodyPr wrap="square" lIns="0" tIns="0" rIns="0" bIns="0"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  screenshot  ]</a:t>
            </a:r>
            <a:endParaRPr lang="en-US" sz="1400" dirty="0"/>
          </a:p>
        </p:txBody>
      </p:sp>
      <p:sp>
        <p:nvSpPr>
          <p:cNvPr id="20" name="Text 18"/>
          <p:cNvSpPr/>
          <p:nvPr/>
        </p:nvSpPr>
        <p:spPr>
          <a:xfrm>
            <a:off x="8311896" y="3749040"/>
            <a:ext cx="3054096" cy="411480"/>
          </a:xfrm>
          <a:prstGeom prst="rect">
            <a:avLst/>
          </a:prstGeom>
          <a:noFill/>
          <a:ln/>
        </p:spPr>
        <p:txBody>
          <a:bodyPr wrap="square" lIns="0" tIns="0" rIns="0" bIns="0" rtlCol="0" anchor="ctr"/>
          <a:lstStyle/>
          <a:p>
            <a:pPr algn="ctr" indent="0" marL="0">
              <a:buNone/>
            </a:pPr>
            <a:r>
              <a:rPr lang="en-US" sz="1800" b="1" dirty="0">
                <a:solidFill>
                  <a:srgbClr val="0F172B"/>
                </a:solidFill>
                <a:latin typeface="Arial" pitchFamily="34" charset="0"/>
                <a:ea typeface="Arial" pitchFamily="34" charset="-122"/>
                <a:cs typeface="Arial" pitchFamily="34" charset="-120"/>
              </a:rPr>
              <a:t>AI insights</a:t>
            </a:r>
            <a:endParaRPr lang="en-US" sz="1800" dirty="0"/>
          </a:p>
        </p:txBody>
      </p:sp>
      <p:sp>
        <p:nvSpPr>
          <p:cNvPr id="21" name="Text 19"/>
          <p:cNvSpPr/>
          <p:nvPr/>
        </p:nvSpPr>
        <p:spPr>
          <a:xfrm>
            <a:off x="8375904" y="4206240"/>
            <a:ext cx="2926080" cy="1600200"/>
          </a:xfrm>
          <a:prstGeom prst="rect">
            <a:avLst/>
          </a:prstGeom>
          <a:noFill/>
          <a:ln/>
        </p:spPr>
        <p:txBody>
          <a:bodyPr wrap="square" lIns="0" tIns="0" rIns="0" bIns="0" rtlCol="0" anchor="t"/>
          <a:lstStyle/>
          <a:p>
            <a:pPr algn="ctr" indent="0" marL="0">
              <a:lnSpc>
                <a:spcPct val="115000"/>
              </a:lnSpc>
              <a:buNone/>
            </a:pPr>
            <a:r>
              <a:rPr lang="en-US" sz="1400" dirty="0">
                <a:solidFill>
                  <a:srgbClr val="64748B"/>
                </a:solidFill>
                <a:latin typeface="Arial" pitchFamily="34" charset="0"/>
                <a:ea typeface="Arial" pitchFamily="34" charset="-122"/>
                <a:cs typeface="Arial" pitchFamily="34" charset="-120"/>
              </a:rPr>
              <a:t>Anomalous days carry a plain-language explanation, and each employee carries a risk score, a risk band and its contributing factors.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Test Results — Automated Testing</a:t>
            </a:r>
            <a:endParaRPr lang="en-US" sz="3200" dirty="0"/>
          </a:p>
        </p:txBody>
      </p:sp>
      <p:sp>
        <p:nvSpPr>
          <p:cNvPr id="4" name="Shape 2"/>
          <p:cNvSpPr/>
          <p:nvPr/>
        </p:nvSpPr>
        <p:spPr>
          <a:xfrm>
            <a:off x="685800" y="1645920"/>
            <a:ext cx="3364992" cy="1600200"/>
          </a:xfrm>
          <a:prstGeom prst="rect">
            <a:avLst/>
          </a:prstGeom>
          <a:solidFill>
            <a:srgbClr val="EAF6EF"/>
          </a:solidFill>
          <a:ln w="6350">
            <a:solidFill>
              <a:srgbClr val="EAF6EF"/>
            </a:solidFill>
            <a:prstDash val="solid"/>
          </a:ln>
        </p:spPr>
      </p:sp>
      <p:sp>
        <p:nvSpPr>
          <p:cNvPr id="5" name="Text 3"/>
          <p:cNvSpPr/>
          <p:nvPr/>
        </p:nvSpPr>
        <p:spPr>
          <a:xfrm>
            <a:off x="822960" y="1783080"/>
            <a:ext cx="3090672" cy="685800"/>
          </a:xfrm>
          <a:prstGeom prst="rect">
            <a:avLst/>
          </a:prstGeom>
          <a:noFill/>
          <a:ln/>
        </p:spPr>
        <p:txBody>
          <a:bodyPr wrap="square" lIns="0" tIns="0" rIns="0" bIns="0" rtlCol="0" anchor="ctr"/>
          <a:lstStyle/>
          <a:p>
            <a:pPr algn="ctr" indent="0" marL="0">
              <a:buNone/>
            </a:pPr>
            <a:r>
              <a:rPr lang="en-US" sz="2800" b="1" dirty="0">
                <a:solidFill>
                  <a:srgbClr val="147A4C"/>
                </a:solidFill>
                <a:latin typeface="Arial" pitchFamily="34" charset="0"/>
                <a:ea typeface="Arial" pitchFamily="34" charset="-122"/>
                <a:cs typeface="Arial" pitchFamily="34" charset="-120"/>
              </a:rPr>
              <a:t>174 / 174</a:t>
            </a:r>
            <a:endParaRPr lang="en-US" sz="2800" dirty="0"/>
          </a:p>
        </p:txBody>
      </p:sp>
      <p:sp>
        <p:nvSpPr>
          <p:cNvPr id="6" name="Text 4"/>
          <p:cNvSpPr/>
          <p:nvPr/>
        </p:nvSpPr>
        <p:spPr>
          <a:xfrm>
            <a:off x="868680" y="2487168"/>
            <a:ext cx="2999232" cy="594360"/>
          </a:xfrm>
          <a:prstGeom prst="rect">
            <a:avLst/>
          </a:prstGeom>
          <a:noFill/>
          <a:ln/>
        </p:spPr>
        <p:txBody>
          <a:bodyPr wrap="square" lIns="0" tIns="0" rIns="0" bIns="0" rtlCol="0" anchor="t"/>
          <a:lstStyle/>
          <a:p>
            <a:pPr algn="ctr" indent="0" marL="0">
              <a:buNone/>
            </a:pPr>
            <a:r>
              <a:rPr lang="en-US" sz="1600" dirty="0">
                <a:solidFill>
                  <a:srgbClr val="64748B"/>
                </a:solidFill>
                <a:latin typeface="Arial" pitchFamily="34" charset="0"/>
                <a:ea typeface="Arial" pitchFamily="34" charset="-122"/>
                <a:cs typeface="Arial" pitchFamily="34" charset="-120"/>
              </a:rPr>
              <a:t>automated tests passed at the verification run</a:t>
            </a:r>
            <a:endParaRPr lang="en-US" sz="1600" dirty="0"/>
          </a:p>
        </p:txBody>
      </p:sp>
      <p:sp>
        <p:nvSpPr>
          <p:cNvPr id="7" name="Shape 5"/>
          <p:cNvSpPr/>
          <p:nvPr/>
        </p:nvSpPr>
        <p:spPr>
          <a:xfrm>
            <a:off x="4416552" y="1645920"/>
            <a:ext cx="3364992" cy="1600200"/>
          </a:xfrm>
          <a:prstGeom prst="rect">
            <a:avLst/>
          </a:prstGeom>
          <a:solidFill>
            <a:srgbClr val="EAF6EF"/>
          </a:solidFill>
          <a:ln w="6350">
            <a:solidFill>
              <a:srgbClr val="EAF6EF"/>
            </a:solidFill>
            <a:prstDash val="solid"/>
          </a:ln>
        </p:spPr>
      </p:sp>
      <p:sp>
        <p:nvSpPr>
          <p:cNvPr id="8" name="Text 6"/>
          <p:cNvSpPr/>
          <p:nvPr/>
        </p:nvSpPr>
        <p:spPr>
          <a:xfrm>
            <a:off x="4553712" y="1783080"/>
            <a:ext cx="3090672" cy="685800"/>
          </a:xfrm>
          <a:prstGeom prst="rect">
            <a:avLst/>
          </a:prstGeom>
          <a:noFill/>
          <a:ln/>
        </p:spPr>
        <p:txBody>
          <a:bodyPr wrap="square" lIns="0" tIns="0" rIns="0" bIns="0" rtlCol="0" anchor="ctr"/>
          <a:lstStyle/>
          <a:p>
            <a:pPr algn="ctr" indent="0" marL="0">
              <a:buNone/>
            </a:pPr>
            <a:r>
              <a:rPr lang="en-US" sz="2800" b="1" dirty="0">
                <a:solidFill>
                  <a:srgbClr val="147A4C"/>
                </a:solidFill>
                <a:latin typeface="Arial" pitchFamily="34" charset="0"/>
                <a:ea typeface="Arial" pitchFamily="34" charset="-122"/>
                <a:cs typeface="Arial" pitchFamily="34" charset="-120"/>
              </a:rPr>
              <a:t>3 services</a:t>
            </a:r>
            <a:endParaRPr lang="en-US" sz="2800" dirty="0"/>
          </a:p>
        </p:txBody>
      </p:sp>
      <p:sp>
        <p:nvSpPr>
          <p:cNvPr id="9" name="Text 7"/>
          <p:cNvSpPr/>
          <p:nvPr/>
        </p:nvSpPr>
        <p:spPr>
          <a:xfrm>
            <a:off x="4599432" y="2487168"/>
            <a:ext cx="2999232" cy="594360"/>
          </a:xfrm>
          <a:prstGeom prst="rect">
            <a:avLst/>
          </a:prstGeom>
          <a:noFill/>
          <a:ln/>
        </p:spPr>
        <p:txBody>
          <a:bodyPr wrap="square" lIns="0" tIns="0" rIns="0" bIns="0" rtlCol="0" anchor="t"/>
          <a:lstStyle/>
          <a:p>
            <a:pPr algn="ctr" indent="0" marL="0">
              <a:buNone/>
            </a:pPr>
            <a:r>
              <a:rPr lang="en-US" sz="1600" dirty="0">
                <a:solidFill>
                  <a:srgbClr val="64748B"/>
                </a:solidFill>
                <a:latin typeface="Arial" pitchFamily="34" charset="0"/>
                <a:ea typeface="Arial" pitchFamily="34" charset="-122"/>
                <a:cs typeface="Arial" pitchFamily="34" charset="-120"/>
              </a:rPr>
              <a:t>each covered by its own suite in continuous integration</a:t>
            </a:r>
            <a:endParaRPr lang="en-US" sz="1600" dirty="0"/>
          </a:p>
        </p:txBody>
      </p:sp>
      <p:sp>
        <p:nvSpPr>
          <p:cNvPr id="10" name="Shape 8"/>
          <p:cNvSpPr/>
          <p:nvPr/>
        </p:nvSpPr>
        <p:spPr>
          <a:xfrm>
            <a:off x="8138160" y="1645920"/>
            <a:ext cx="3364992" cy="1600200"/>
          </a:xfrm>
          <a:prstGeom prst="rect">
            <a:avLst/>
          </a:prstGeom>
          <a:solidFill>
            <a:srgbClr val="EAF6EF"/>
          </a:solidFill>
          <a:ln w="6350">
            <a:solidFill>
              <a:srgbClr val="EAF6EF"/>
            </a:solidFill>
            <a:prstDash val="solid"/>
          </a:ln>
        </p:spPr>
      </p:sp>
      <p:sp>
        <p:nvSpPr>
          <p:cNvPr id="11" name="Text 9"/>
          <p:cNvSpPr/>
          <p:nvPr/>
        </p:nvSpPr>
        <p:spPr>
          <a:xfrm>
            <a:off x="8275320" y="1783080"/>
            <a:ext cx="3090672" cy="685800"/>
          </a:xfrm>
          <a:prstGeom prst="rect">
            <a:avLst/>
          </a:prstGeom>
          <a:noFill/>
          <a:ln/>
        </p:spPr>
        <p:txBody>
          <a:bodyPr wrap="square" lIns="0" tIns="0" rIns="0" bIns="0" rtlCol="0" anchor="ctr"/>
          <a:lstStyle/>
          <a:p>
            <a:pPr algn="ctr" indent="0" marL="0">
              <a:buNone/>
            </a:pPr>
            <a:r>
              <a:rPr lang="en-US" sz="3600" b="1" dirty="0">
                <a:solidFill>
                  <a:srgbClr val="147A4C"/>
                </a:solidFill>
                <a:latin typeface="Arial" pitchFamily="34" charset="0"/>
                <a:ea typeface="Arial" pitchFamily="34" charset="-122"/>
                <a:cs typeface="Arial" pitchFamily="34" charset="-120"/>
              </a:rPr>
              <a:t>6 / 6</a:t>
            </a:r>
            <a:endParaRPr lang="en-US" sz="3600" dirty="0"/>
          </a:p>
        </p:txBody>
      </p:sp>
      <p:sp>
        <p:nvSpPr>
          <p:cNvPr id="12" name="Text 10"/>
          <p:cNvSpPr/>
          <p:nvPr/>
        </p:nvSpPr>
        <p:spPr>
          <a:xfrm>
            <a:off x="8321040" y="2487168"/>
            <a:ext cx="2999232" cy="594360"/>
          </a:xfrm>
          <a:prstGeom prst="rect">
            <a:avLst/>
          </a:prstGeom>
          <a:noFill/>
          <a:ln/>
        </p:spPr>
        <p:txBody>
          <a:bodyPr wrap="square" lIns="0" tIns="0" rIns="0" bIns="0" rtlCol="0" anchor="t"/>
          <a:lstStyle/>
          <a:p>
            <a:pPr algn="ctr" indent="0" marL="0">
              <a:buNone/>
            </a:pPr>
            <a:r>
              <a:rPr lang="en-US" sz="1600" dirty="0">
                <a:solidFill>
                  <a:srgbClr val="64748B"/>
                </a:solidFill>
                <a:latin typeface="Arial" pitchFamily="34" charset="0"/>
                <a:ea typeface="Arial" pitchFamily="34" charset="-122"/>
                <a:cs typeface="Arial" pitchFamily="34" charset="-120"/>
              </a:rPr>
              <a:t>specific objectives met and verified</a:t>
            </a:r>
            <a:endParaRPr lang="en-US" sz="1600" dirty="0"/>
          </a:p>
        </p:txBody>
      </p:sp>
      <p:sp>
        <p:nvSpPr>
          <p:cNvPr id="13" name="Text 11"/>
          <p:cNvSpPr/>
          <p:nvPr/>
        </p:nvSpPr>
        <p:spPr>
          <a:xfrm>
            <a:off x="685800" y="3566160"/>
            <a:ext cx="10817352" cy="2651760"/>
          </a:xfrm>
          <a:prstGeom prst="rect">
            <a:avLst/>
          </a:prstGeom>
          <a:noFill/>
          <a:ln/>
        </p:spPr>
        <p:txBody>
          <a:bodyPr wrap="square" lIns="0" tIns="0" rIns="0" bIns="0" rtlCol="0" anchor="t"/>
          <a:lstStyle/>
          <a:p>
            <a:pPr algn="l" indent="0" marL="0">
              <a:lnSpc>
                <a:spcPct val="114000"/>
              </a:lnSpc>
              <a:spcAft>
                <a:spcPts val="1400"/>
              </a:spcAft>
              <a:buNone/>
            </a:pPr>
            <a:r>
              <a:rPr lang="en-US" sz="1900" dirty="0">
                <a:solidFill>
                  <a:srgbClr val="0F172B"/>
                </a:solidFill>
                <a:latin typeface="Arial" pitchFamily="34" charset="0"/>
                <a:ea typeface="Arial" pitchFamily="34" charset="-122"/>
                <a:cs typeface="Arial" pitchFamily="34" charset="-120"/>
              </a:rPr>
              <a:t>The core application contributed 130 tests under PHPUnit, the analysis service 25 under pytest, and the biometric adapter 19. All three suites must pass before any change is merged.</a:t>
            </a:r>
            <a:endParaRPr lang="en-US" sz="1900" dirty="0"/>
          </a:p>
          <a:p>
            <a:pPr algn="l" indent="0" marL="0">
              <a:lnSpc>
                <a:spcPct val="114000"/>
              </a:lnSpc>
              <a:spcAft>
                <a:spcPts val="1400"/>
              </a:spcAft>
              <a:buNone/>
            </a:pPr>
            <a:r>
              <a:rPr lang="en-US" sz="1900" dirty="0">
                <a:solidFill>
                  <a:srgbClr val="0F172B"/>
                </a:solidFill>
                <a:latin typeface="Arial" pitchFamily="34" charset="0"/>
                <a:ea typeface="Arial" pitchFamily="34" charset="-122"/>
                <a:cs typeface="Arial" pitchFamily="34" charset="-120"/>
              </a:rPr>
              <a:t>Coverage includes an authorisation matrix asserting which role may reach which route, and privacy tests confirming that no personal data reaches the external language model.</a:t>
            </a:r>
            <a:endParaRPr lang="en-US" sz="1900" dirty="0"/>
          </a:p>
          <a:p>
            <a:pPr algn="l" indent="0" marL="0">
              <a:lnSpc>
                <a:spcPct val="114000"/>
              </a:lnSpc>
              <a:spcAft>
                <a:spcPts val="1400"/>
              </a:spcAft>
              <a:buNone/>
            </a:pPr>
            <a:r>
              <a:rPr lang="en-US" sz="1900" dirty="0">
                <a:solidFill>
                  <a:srgbClr val="0F172B"/>
                </a:solidFill>
                <a:latin typeface="Arial" pitchFamily="34" charset="0"/>
                <a:ea typeface="Arial" pitchFamily="34" charset="-122"/>
                <a:cs typeface="Arial" pitchFamily="34" charset="-120"/>
              </a:rPr>
              <a:t>The figures are a recorded baseline taken at the end of the testing phase; later phases added further tests to the same suites.</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Test Results — Outcome by Objective</a:t>
            </a:r>
            <a:endParaRPr lang="en-US" sz="3200" dirty="0"/>
          </a:p>
        </p:txBody>
      </p:sp>
      <p:sp>
        <p:nvSpPr>
          <p:cNvPr id="4" name="Text 2"/>
          <p:cNvSpPr/>
          <p:nvPr/>
        </p:nvSpPr>
        <p:spPr>
          <a:xfrm>
            <a:off x="1133856" y="1005840"/>
            <a:ext cx="10369296" cy="329184"/>
          </a:xfrm>
          <a:prstGeom prst="rect">
            <a:avLst/>
          </a:prstGeom>
          <a:noFill/>
          <a:ln/>
        </p:spPr>
        <p:txBody>
          <a:bodyPr wrap="square" lIns="0" tIns="0" rIns="0" bIns="0" rtlCol="0" anchor="ctr"/>
          <a:lstStyle/>
          <a:p>
            <a:pPr algn="l" indent="0" marL="0">
              <a:buNone/>
            </a:pPr>
            <a:r>
              <a:rPr lang="en-US" sz="1600" dirty="0">
                <a:solidFill>
                  <a:srgbClr val="64748B"/>
                </a:solidFill>
                <a:latin typeface="Arial" pitchFamily="34" charset="0"/>
                <a:ea typeface="Arial" pitchFamily="34" charset="-122"/>
                <a:cs typeface="Arial" pitchFamily="34" charset="-120"/>
              </a:rPr>
              <a:t>Every result below is asserted by a test that can be re-run from the repository</a:t>
            </a:r>
            <a:endParaRPr lang="en-US" sz="1600" dirty="0"/>
          </a:p>
        </p:txBody>
      </p:sp>
      <p:sp>
        <p:nvSpPr>
          <p:cNvPr id="5" name="Shape 3"/>
          <p:cNvSpPr/>
          <p:nvPr/>
        </p:nvSpPr>
        <p:spPr>
          <a:xfrm>
            <a:off x="685800" y="1572768"/>
            <a:ext cx="10817352" cy="640080"/>
          </a:xfrm>
          <a:prstGeom prst="rect">
            <a:avLst/>
          </a:prstGeom>
          <a:solidFill>
            <a:srgbClr val="0F172B"/>
          </a:solidFill>
          <a:ln w="6350">
            <a:solidFill>
              <a:srgbClr val="0F172B"/>
            </a:solidFill>
            <a:prstDash val="solid"/>
          </a:ln>
        </p:spPr>
      </p:sp>
      <p:sp>
        <p:nvSpPr>
          <p:cNvPr id="6" name="Text 4"/>
          <p:cNvSpPr/>
          <p:nvPr/>
        </p:nvSpPr>
        <p:spPr>
          <a:xfrm>
            <a:off x="868680" y="1572768"/>
            <a:ext cx="3794760" cy="64008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Objective</a:t>
            </a:r>
            <a:endParaRPr lang="en-US" sz="1500" dirty="0"/>
          </a:p>
        </p:txBody>
      </p:sp>
      <p:sp>
        <p:nvSpPr>
          <p:cNvPr id="7" name="Text 5"/>
          <p:cNvSpPr/>
          <p:nvPr/>
        </p:nvSpPr>
        <p:spPr>
          <a:xfrm>
            <a:off x="4846320" y="1572768"/>
            <a:ext cx="6839712" cy="64008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Result observed</a:t>
            </a:r>
            <a:endParaRPr lang="en-US" sz="1500" dirty="0"/>
          </a:p>
        </p:txBody>
      </p:sp>
      <p:sp>
        <p:nvSpPr>
          <p:cNvPr id="8" name="Shape 6"/>
          <p:cNvSpPr/>
          <p:nvPr/>
        </p:nvSpPr>
        <p:spPr>
          <a:xfrm>
            <a:off x="685800" y="2304288"/>
            <a:ext cx="10817352" cy="603504"/>
          </a:xfrm>
          <a:prstGeom prst="rect">
            <a:avLst/>
          </a:prstGeom>
          <a:solidFill>
            <a:srgbClr val="EAF6EF"/>
          </a:solidFill>
          <a:ln w="9525">
            <a:solidFill>
              <a:srgbClr val="EAF6EF"/>
            </a:solidFill>
            <a:prstDash val="solid"/>
          </a:ln>
        </p:spPr>
      </p:sp>
      <p:sp>
        <p:nvSpPr>
          <p:cNvPr id="9" name="Text 7"/>
          <p:cNvSpPr/>
          <p:nvPr/>
        </p:nvSpPr>
        <p:spPr>
          <a:xfrm>
            <a:off x="868680" y="2304288"/>
            <a:ext cx="3794760" cy="603504"/>
          </a:xfrm>
          <a:prstGeom prst="rect">
            <a:avLst/>
          </a:prstGeom>
          <a:noFill/>
          <a:ln/>
        </p:spPr>
        <p:txBody>
          <a:bodyPr wrap="square" lIns="0" tIns="0" rIns="0" bIns="0" rtlCol="0" anchor="ctr"/>
          <a:lstStyle/>
          <a:p>
            <a:pPr algn="l" indent="0" marL="0">
              <a:buNone/>
            </a:pPr>
            <a:r>
              <a:rPr lang="en-US" sz="1550" b="1" dirty="0">
                <a:solidFill>
                  <a:srgbClr val="0F172B"/>
                </a:solidFill>
                <a:latin typeface="Arial" pitchFamily="34" charset="0"/>
                <a:ea typeface="Arial" pitchFamily="34" charset="-122"/>
                <a:cs typeface="Arial" pitchFamily="34" charset="-120"/>
              </a:rPr>
              <a:t>1. Vendor-independent capture</a:t>
            </a:r>
            <a:endParaRPr lang="en-US" sz="1550" dirty="0"/>
          </a:p>
        </p:txBody>
      </p:sp>
      <p:sp>
        <p:nvSpPr>
          <p:cNvPr id="10" name="Text 8"/>
          <p:cNvSpPr/>
          <p:nvPr/>
        </p:nvSpPr>
        <p:spPr>
          <a:xfrm>
            <a:off x="4846320" y="2304288"/>
            <a:ext cx="6839712" cy="603504"/>
          </a:xfrm>
          <a:prstGeom prst="rect">
            <a:avLst/>
          </a:prstGeom>
          <a:noFill/>
          <a:ln/>
        </p:spPr>
        <p:txBody>
          <a:bodyPr wrap="square" lIns="0" tIns="0" rIns="0" bIns="0" rtlCol="0" anchor="ctr"/>
          <a:lstStyle/>
          <a:p>
            <a:pPr algn="l" indent="0" marL="0">
              <a:buNone/>
            </a:pPr>
            <a:r>
              <a:rPr lang="en-US" sz="1550" dirty="0">
                <a:solidFill>
                  <a:srgbClr val="0F172B"/>
                </a:solidFill>
                <a:latin typeface="Arial" pitchFamily="34" charset="0"/>
                <a:ea typeface="Arial" pitchFamily="34" charset="-122"/>
                <a:cs typeface="Arial" pitchFamily="34" charset="-120"/>
              </a:rPr>
              <a:t>ZKTeco, Hikvision and stub drivers all reach the same log through one interface</a:t>
            </a:r>
            <a:endParaRPr lang="en-US" sz="1550" dirty="0"/>
          </a:p>
        </p:txBody>
      </p:sp>
      <p:sp>
        <p:nvSpPr>
          <p:cNvPr id="11" name="Shape 9"/>
          <p:cNvSpPr/>
          <p:nvPr/>
        </p:nvSpPr>
        <p:spPr>
          <a:xfrm>
            <a:off x="685800" y="2962656"/>
            <a:ext cx="10817352" cy="603504"/>
          </a:xfrm>
          <a:prstGeom prst="rect">
            <a:avLst/>
          </a:prstGeom>
          <a:solidFill>
            <a:srgbClr val="FFFFFF"/>
          </a:solidFill>
          <a:ln w="9525">
            <a:solidFill>
              <a:srgbClr val="EAF6EF"/>
            </a:solidFill>
            <a:prstDash val="solid"/>
          </a:ln>
        </p:spPr>
      </p:sp>
      <p:sp>
        <p:nvSpPr>
          <p:cNvPr id="12" name="Text 10"/>
          <p:cNvSpPr/>
          <p:nvPr/>
        </p:nvSpPr>
        <p:spPr>
          <a:xfrm>
            <a:off x="868680" y="2962656"/>
            <a:ext cx="3794760" cy="603504"/>
          </a:xfrm>
          <a:prstGeom prst="rect">
            <a:avLst/>
          </a:prstGeom>
          <a:noFill/>
          <a:ln/>
        </p:spPr>
        <p:txBody>
          <a:bodyPr wrap="square" lIns="0" tIns="0" rIns="0" bIns="0" rtlCol="0" anchor="ctr"/>
          <a:lstStyle/>
          <a:p>
            <a:pPr algn="l" indent="0" marL="0">
              <a:buNone/>
            </a:pPr>
            <a:r>
              <a:rPr lang="en-US" sz="1550" b="1" dirty="0">
                <a:solidFill>
                  <a:srgbClr val="0F172B"/>
                </a:solidFill>
                <a:latin typeface="Arial" pitchFamily="34" charset="0"/>
                <a:ea typeface="Arial" pitchFamily="34" charset="-122"/>
                <a:cs typeface="Arial" pitchFamily="34" charset="-120"/>
              </a:rPr>
              <a:t>2. Attendance and permissions joined</a:t>
            </a:r>
            <a:endParaRPr lang="en-US" sz="1550" dirty="0"/>
          </a:p>
        </p:txBody>
      </p:sp>
      <p:sp>
        <p:nvSpPr>
          <p:cNvPr id="13" name="Text 11"/>
          <p:cNvSpPr/>
          <p:nvPr/>
        </p:nvSpPr>
        <p:spPr>
          <a:xfrm>
            <a:off x="4846320" y="2962656"/>
            <a:ext cx="6839712" cy="603504"/>
          </a:xfrm>
          <a:prstGeom prst="rect">
            <a:avLst/>
          </a:prstGeom>
          <a:noFill/>
          <a:ln/>
        </p:spPr>
        <p:txBody>
          <a:bodyPr wrap="square" lIns="0" tIns="0" rIns="0" bIns="0" rtlCol="0" anchor="ctr"/>
          <a:lstStyle/>
          <a:p>
            <a:pPr algn="l" indent="0" marL="0">
              <a:buNone/>
            </a:pPr>
            <a:r>
              <a:rPr lang="en-US" sz="1550" dirty="0">
                <a:solidFill>
                  <a:srgbClr val="0F172B"/>
                </a:solidFill>
                <a:latin typeface="Arial" pitchFamily="34" charset="0"/>
                <a:ea typeface="Arial" pitchFamily="34" charset="-122"/>
                <a:cs typeface="Arial" pitchFamily="34" charset="-120"/>
              </a:rPr>
              <a:t>The request lifecycle completes end to end and notifications fire</a:t>
            </a:r>
            <a:endParaRPr lang="en-US" sz="1550" dirty="0"/>
          </a:p>
        </p:txBody>
      </p:sp>
      <p:sp>
        <p:nvSpPr>
          <p:cNvPr id="14" name="Shape 12"/>
          <p:cNvSpPr/>
          <p:nvPr/>
        </p:nvSpPr>
        <p:spPr>
          <a:xfrm>
            <a:off x="685800" y="3621024"/>
            <a:ext cx="10817352" cy="603504"/>
          </a:xfrm>
          <a:prstGeom prst="rect">
            <a:avLst/>
          </a:prstGeom>
          <a:solidFill>
            <a:srgbClr val="EAF6EF"/>
          </a:solidFill>
          <a:ln w="9525">
            <a:solidFill>
              <a:srgbClr val="EAF6EF"/>
            </a:solidFill>
            <a:prstDash val="solid"/>
          </a:ln>
        </p:spPr>
      </p:sp>
      <p:sp>
        <p:nvSpPr>
          <p:cNvPr id="15" name="Text 13"/>
          <p:cNvSpPr/>
          <p:nvPr/>
        </p:nvSpPr>
        <p:spPr>
          <a:xfrm>
            <a:off x="868680" y="3621024"/>
            <a:ext cx="3794760" cy="603504"/>
          </a:xfrm>
          <a:prstGeom prst="rect">
            <a:avLst/>
          </a:prstGeom>
          <a:noFill/>
          <a:ln/>
        </p:spPr>
        <p:txBody>
          <a:bodyPr wrap="square" lIns="0" tIns="0" rIns="0" bIns="0" rtlCol="0" anchor="ctr"/>
          <a:lstStyle/>
          <a:p>
            <a:pPr algn="l" indent="0" marL="0">
              <a:buNone/>
            </a:pPr>
            <a:r>
              <a:rPr lang="en-US" sz="1550" b="1" dirty="0">
                <a:solidFill>
                  <a:srgbClr val="0F172B"/>
                </a:solidFill>
                <a:latin typeface="Arial" pitchFamily="34" charset="0"/>
                <a:ea typeface="Arial" pitchFamily="34" charset="-122"/>
                <a:cs typeface="Arial" pitchFamily="34" charset="-120"/>
              </a:rPr>
              <a:t>3. Automatic update on approval</a:t>
            </a:r>
            <a:endParaRPr lang="en-US" sz="1550" dirty="0"/>
          </a:p>
        </p:txBody>
      </p:sp>
      <p:sp>
        <p:nvSpPr>
          <p:cNvPr id="16" name="Text 14"/>
          <p:cNvSpPr/>
          <p:nvPr/>
        </p:nvSpPr>
        <p:spPr>
          <a:xfrm>
            <a:off x="4846320" y="3621024"/>
            <a:ext cx="6839712" cy="603504"/>
          </a:xfrm>
          <a:prstGeom prst="rect">
            <a:avLst/>
          </a:prstGeom>
          <a:noFill/>
          <a:ln/>
        </p:spPr>
        <p:txBody>
          <a:bodyPr wrap="square" lIns="0" tIns="0" rIns="0" bIns="0" rtlCol="0" anchor="ctr"/>
          <a:lstStyle/>
          <a:p>
            <a:pPr algn="l" indent="0" marL="0">
              <a:buNone/>
            </a:pPr>
            <a:r>
              <a:rPr lang="en-US" sz="1550" dirty="0">
                <a:solidFill>
                  <a:srgbClr val="0F172B"/>
                </a:solidFill>
                <a:latin typeface="Arial" pitchFamily="34" charset="0"/>
                <a:ea typeface="Arial" pitchFamily="34" charset="-122"/>
                <a:cs typeface="Arial" pitchFamily="34" charset="-120"/>
              </a:rPr>
              <a:t>A day recorded as Absent flips to the correct leave status, including for past dates</a:t>
            </a:r>
            <a:endParaRPr lang="en-US" sz="1550" dirty="0"/>
          </a:p>
        </p:txBody>
      </p:sp>
      <p:sp>
        <p:nvSpPr>
          <p:cNvPr id="17" name="Shape 15"/>
          <p:cNvSpPr/>
          <p:nvPr/>
        </p:nvSpPr>
        <p:spPr>
          <a:xfrm>
            <a:off x="685800" y="4279392"/>
            <a:ext cx="10817352" cy="603504"/>
          </a:xfrm>
          <a:prstGeom prst="rect">
            <a:avLst/>
          </a:prstGeom>
          <a:solidFill>
            <a:srgbClr val="FFFFFF"/>
          </a:solidFill>
          <a:ln w="9525">
            <a:solidFill>
              <a:srgbClr val="EAF6EF"/>
            </a:solidFill>
            <a:prstDash val="solid"/>
          </a:ln>
        </p:spPr>
      </p:sp>
      <p:sp>
        <p:nvSpPr>
          <p:cNvPr id="18" name="Text 16"/>
          <p:cNvSpPr/>
          <p:nvPr/>
        </p:nvSpPr>
        <p:spPr>
          <a:xfrm>
            <a:off x="868680" y="4279392"/>
            <a:ext cx="3794760" cy="603504"/>
          </a:xfrm>
          <a:prstGeom prst="rect">
            <a:avLst/>
          </a:prstGeom>
          <a:noFill/>
          <a:ln/>
        </p:spPr>
        <p:txBody>
          <a:bodyPr wrap="square" lIns="0" tIns="0" rIns="0" bIns="0" rtlCol="0" anchor="ctr"/>
          <a:lstStyle/>
          <a:p>
            <a:pPr algn="l" indent="0" marL="0">
              <a:buNone/>
            </a:pPr>
            <a:r>
              <a:rPr lang="en-US" sz="1550" b="1" dirty="0">
                <a:solidFill>
                  <a:srgbClr val="0F172B"/>
                </a:solidFill>
                <a:latin typeface="Arial" pitchFamily="34" charset="0"/>
                <a:ea typeface="Arial" pitchFamily="34" charset="-122"/>
                <a:cs typeface="Arial" pitchFamily="34" charset="-120"/>
              </a:rPr>
              <a:t>4. AI analysis and prediction</a:t>
            </a:r>
            <a:endParaRPr lang="en-US" sz="1550" dirty="0"/>
          </a:p>
        </p:txBody>
      </p:sp>
      <p:sp>
        <p:nvSpPr>
          <p:cNvPr id="19" name="Text 17"/>
          <p:cNvSpPr/>
          <p:nvPr/>
        </p:nvSpPr>
        <p:spPr>
          <a:xfrm>
            <a:off x="4846320" y="4279392"/>
            <a:ext cx="6839712" cy="603504"/>
          </a:xfrm>
          <a:prstGeom prst="rect">
            <a:avLst/>
          </a:prstGeom>
          <a:noFill/>
          <a:ln/>
        </p:spPr>
        <p:txBody>
          <a:bodyPr wrap="square" lIns="0" tIns="0" rIns="0" bIns="0" rtlCol="0" anchor="ctr"/>
          <a:lstStyle/>
          <a:p>
            <a:pPr algn="l" indent="0" marL="0">
              <a:buNone/>
            </a:pPr>
            <a:r>
              <a:rPr lang="en-US" sz="1550" dirty="0">
                <a:solidFill>
                  <a:srgbClr val="0F172B"/>
                </a:solidFill>
                <a:latin typeface="Arial" pitchFamily="34" charset="0"/>
                <a:ea typeface="Arial" pitchFamily="34" charset="-122"/>
                <a:cs typeface="Arial" pitchFamily="34" charset="-120"/>
              </a:rPr>
              <a:t>Anomalies persist with explanations, and each employee carries a risk score</a:t>
            </a:r>
            <a:endParaRPr lang="en-US" sz="1550" dirty="0"/>
          </a:p>
        </p:txBody>
      </p:sp>
      <p:sp>
        <p:nvSpPr>
          <p:cNvPr id="20" name="Shape 18"/>
          <p:cNvSpPr/>
          <p:nvPr/>
        </p:nvSpPr>
        <p:spPr>
          <a:xfrm>
            <a:off x="685800" y="4937760"/>
            <a:ext cx="10817352" cy="603504"/>
          </a:xfrm>
          <a:prstGeom prst="rect">
            <a:avLst/>
          </a:prstGeom>
          <a:solidFill>
            <a:srgbClr val="EAF6EF"/>
          </a:solidFill>
          <a:ln w="9525">
            <a:solidFill>
              <a:srgbClr val="EAF6EF"/>
            </a:solidFill>
            <a:prstDash val="solid"/>
          </a:ln>
        </p:spPr>
      </p:sp>
      <p:sp>
        <p:nvSpPr>
          <p:cNvPr id="21" name="Text 19"/>
          <p:cNvSpPr/>
          <p:nvPr/>
        </p:nvSpPr>
        <p:spPr>
          <a:xfrm>
            <a:off x="868680" y="4937760"/>
            <a:ext cx="3794760" cy="603504"/>
          </a:xfrm>
          <a:prstGeom prst="rect">
            <a:avLst/>
          </a:prstGeom>
          <a:noFill/>
          <a:ln/>
        </p:spPr>
        <p:txBody>
          <a:bodyPr wrap="square" lIns="0" tIns="0" rIns="0" bIns="0" rtlCol="0" anchor="ctr"/>
          <a:lstStyle/>
          <a:p>
            <a:pPr algn="l" indent="0" marL="0">
              <a:buNone/>
            </a:pPr>
            <a:r>
              <a:rPr lang="en-US" sz="1550" b="1" dirty="0">
                <a:solidFill>
                  <a:srgbClr val="0F172B"/>
                </a:solidFill>
                <a:latin typeface="Arial" pitchFamily="34" charset="0"/>
                <a:ea typeface="Arial" pitchFamily="34" charset="-122"/>
                <a:cs typeface="Arial" pitchFamily="34" charset="-120"/>
              </a:rPr>
              <a:t>5. Notification and reporting</a:t>
            </a:r>
            <a:endParaRPr lang="en-US" sz="1550" dirty="0"/>
          </a:p>
        </p:txBody>
      </p:sp>
      <p:sp>
        <p:nvSpPr>
          <p:cNvPr id="22" name="Text 20"/>
          <p:cNvSpPr/>
          <p:nvPr/>
        </p:nvSpPr>
        <p:spPr>
          <a:xfrm>
            <a:off x="4846320" y="4937760"/>
            <a:ext cx="6839712" cy="603504"/>
          </a:xfrm>
          <a:prstGeom prst="rect">
            <a:avLst/>
          </a:prstGeom>
          <a:noFill/>
          <a:ln/>
        </p:spPr>
        <p:txBody>
          <a:bodyPr wrap="square" lIns="0" tIns="0" rIns="0" bIns="0" rtlCol="0" anchor="ctr"/>
          <a:lstStyle/>
          <a:p>
            <a:pPr algn="l" indent="0" marL="0">
              <a:buNone/>
            </a:pPr>
            <a:r>
              <a:rPr lang="en-US" sz="1550" dirty="0">
                <a:solidFill>
                  <a:srgbClr val="0F172B"/>
                </a:solidFill>
                <a:latin typeface="Arial" pitchFamily="34" charset="0"/>
                <a:ea typeface="Arial" pitchFamily="34" charset="-122"/>
                <a:cs typeface="Arial" pitchFamily="34" charset="-120"/>
              </a:rPr>
              <a:t>Submissions, decisions and the missing-sign-in reminder all produce notifications</a:t>
            </a:r>
            <a:endParaRPr lang="en-US" sz="1550" dirty="0"/>
          </a:p>
        </p:txBody>
      </p:sp>
      <p:sp>
        <p:nvSpPr>
          <p:cNvPr id="23" name="Shape 21"/>
          <p:cNvSpPr/>
          <p:nvPr/>
        </p:nvSpPr>
        <p:spPr>
          <a:xfrm>
            <a:off x="685800" y="5596128"/>
            <a:ext cx="10817352" cy="603504"/>
          </a:xfrm>
          <a:prstGeom prst="rect">
            <a:avLst/>
          </a:prstGeom>
          <a:solidFill>
            <a:srgbClr val="FFFFFF"/>
          </a:solidFill>
          <a:ln w="9525">
            <a:solidFill>
              <a:srgbClr val="EAF6EF"/>
            </a:solidFill>
            <a:prstDash val="solid"/>
          </a:ln>
        </p:spPr>
      </p:sp>
      <p:sp>
        <p:nvSpPr>
          <p:cNvPr id="24" name="Text 22"/>
          <p:cNvSpPr/>
          <p:nvPr/>
        </p:nvSpPr>
        <p:spPr>
          <a:xfrm>
            <a:off x="868680" y="5596128"/>
            <a:ext cx="3794760" cy="603504"/>
          </a:xfrm>
          <a:prstGeom prst="rect">
            <a:avLst/>
          </a:prstGeom>
          <a:noFill/>
          <a:ln/>
        </p:spPr>
        <p:txBody>
          <a:bodyPr wrap="square" lIns="0" tIns="0" rIns="0" bIns="0" rtlCol="0" anchor="ctr"/>
          <a:lstStyle/>
          <a:p>
            <a:pPr algn="l" indent="0" marL="0">
              <a:buNone/>
            </a:pPr>
            <a:r>
              <a:rPr lang="en-US" sz="1550" b="1" dirty="0">
                <a:solidFill>
                  <a:srgbClr val="0F172B"/>
                </a:solidFill>
                <a:latin typeface="Arial" pitchFamily="34" charset="0"/>
                <a:ea typeface="Arial" pitchFamily="34" charset="-122"/>
                <a:cs typeface="Arial" pitchFamily="34" charset="-120"/>
              </a:rPr>
              <a:t>6. Improved accuracy and efficiency</a:t>
            </a:r>
            <a:endParaRPr lang="en-US" sz="1550" dirty="0"/>
          </a:p>
        </p:txBody>
      </p:sp>
      <p:sp>
        <p:nvSpPr>
          <p:cNvPr id="25" name="Text 23"/>
          <p:cNvSpPr/>
          <p:nvPr/>
        </p:nvSpPr>
        <p:spPr>
          <a:xfrm>
            <a:off x="4846320" y="5596128"/>
            <a:ext cx="6839712" cy="603504"/>
          </a:xfrm>
          <a:prstGeom prst="rect">
            <a:avLst/>
          </a:prstGeom>
          <a:noFill/>
          <a:ln/>
        </p:spPr>
        <p:txBody>
          <a:bodyPr wrap="square" lIns="0" tIns="0" rIns="0" bIns="0" rtlCol="0" anchor="ctr"/>
          <a:lstStyle/>
          <a:p>
            <a:pPr algn="l" indent="0" marL="0">
              <a:buNone/>
            </a:pPr>
            <a:r>
              <a:rPr lang="en-US" sz="1550" dirty="0">
                <a:solidFill>
                  <a:srgbClr val="0F172B"/>
                </a:solidFill>
                <a:latin typeface="Arial" pitchFamily="34" charset="0"/>
                <a:ea typeface="Arial" pitchFamily="34" charset="-122"/>
                <a:cs typeface="Arial" pitchFamily="34" charset="-120"/>
              </a:rPr>
              <a:t>Monthly reports and both exports count an approved day as leave, not absence</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Test Results — Machine Learning Evaluation</a:t>
            </a:r>
            <a:endParaRPr lang="en-US" sz="3200" dirty="0"/>
          </a:p>
        </p:txBody>
      </p:sp>
      <p:sp>
        <p:nvSpPr>
          <p:cNvPr id="4" name="Shape 2"/>
          <p:cNvSpPr/>
          <p:nvPr/>
        </p:nvSpPr>
        <p:spPr>
          <a:xfrm>
            <a:off x="685800" y="1645920"/>
            <a:ext cx="3364992" cy="1600200"/>
          </a:xfrm>
          <a:prstGeom prst="rect">
            <a:avLst/>
          </a:prstGeom>
          <a:solidFill>
            <a:srgbClr val="EAF6EF"/>
          </a:solidFill>
          <a:ln w="6350">
            <a:solidFill>
              <a:srgbClr val="EAF6EF"/>
            </a:solidFill>
            <a:prstDash val="solid"/>
          </a:ln>
        </p:spPr>
      </p:sp>
      <p:sp>
        <p:nvSpPr>
          <p:cNvPr id="5" name="Text 3"/>
          <p:cNvSpPr/>
          <p:nvPr/>
        </p:nvSpPr>
        <p:spPr>
          <a:xfrm>
            <a:off x="822960" y="1783080"/>
            <a:ext cx="3090672" cy="685800"/>
          </a:xfrm>
          <a:prstGeom prst="rect">
            <a:avLst/>
          </a:prstGeom>
          <a:noFill/>
          <a:ln/>
        </p:spPr>
        <p:txBody>
          <a:bodyPr wrap="square" lIns="0" tIns="0" rIns="0" bIns="0" rtlCol="0" anchor="ctr"/>
          <a:lstStyle/>
          <a:p>
            <a:pPr algn="ctr" indent="0" marL="0">
              <a:buNone/>
            </a:pPr>
            <a:r>
              <a:rPr lang="en-US" sz="3600" b="1" dirty="0">
                <a:solidFill>
                  <a:srgbClr val="147A4C"/>
                </a:solidFill>
                <a:latin typeface="Arial" pitchFamily="34" charset="0"/>
                <a:ea typeface="Arial" pitchFamily="34" charset="-122"/>
                <a:cs typeface="Arial" pitchFamily="34" charset="-120"/>
              </a:rPr>
              <a:t>1.000</a:t>
            </a:r>
            <a:endParaRPr lang="en-US" sz="3600" dirty="0"/>
          </a:p>
        </p:txBody>
      </p:sp>
      <p:sp>
        <p:nvSpPr>
          <p:cNvPr id="6" name="Text 4"/>
          <p:cNvSpPr/>
          <p:nvPr/>
        </p:nvSpPr>
        <p:spPr>
          <a:xfrm>
            <a:off x="868680" y="2487168"/>
            <a:ext cx="2999232" cy="594360"/>
          </a:xfrm>
          <a:prstGeom prst="rect">
            <a:avLst/>
          </a:prstGeom>
          <a:noFill/>
          <a:ln/>
        </p:spPr>
        <p:txBody>
          <a:bodyPr wrap="square" lIns="0" tIns="0" rIns="0" bIns="0" rtlCol="0" anchor="t"/>
          <a:lstStyle/>
          <a:p>
            <a:pPr algn="ctr" indent="0" marL="0">
              <a:buNone/>
            </a:pPr>
            <a:r>
              <a:rPr lang="en-US" sz="1600" dirty="0">
                <a:solidFill>
                  <a:srgbClr val="64748B"/>
                </a:solidFill>
                <a:latin typeface="Arial" pitchFamily="34" charset="0"/>
                <a:ea typeface="Arial" pitchFamily="34" charset="-122"/>
                <a:cs typeface="Arial" pitchFamily="34" charset="-120"/>
              </a:rPr>
              <a:t>precision and recall, anomaly detection</a:t>
            </a:r>
            <a:endParaRPr lang="en-US" sz="1600" dirty="0"/>
          </a:p>
        </p:txBody>
      </p:sp>
      <p:sp>
        <p:nvSpPr>
          <p:cNvPr id="7" name="Shape 5"/>
          <p:cNvSpPr/>
          <p:nvPr/>
        </p:nvSpPr>
        <p:spPr>
          <a:xfrm>
            <a:off x="4416552" y="1645920"/>
            <a:ext cx="3364992" cy="1600200"/>
          </a:xfrm>
          <a:prstGeom prst="rect">
            <a:avLst/>
          </a:prstGeom>
          <a:solidFill>
            <a:srgbClr val="EAF6EF"/>
          </a:solidFill>
          <a:ln w="6350">
            <a:solidFill>
              <a:srgbClr val="EAF6EF"/>
            </a:solidFill>
            <a:prstDash val="solid"/>
          </a:ln>
        </p:spPr>
      </p:sp>
      <p:sp>
        <p:nvSpPr>
          <p:cNvPr id="8" name="Text 6"/>
          <p:cNvSpPr/>
          <p:nvPr/>
        </p:nvSpPr>
        <p:spPr>
          <a:xfrm>
            <a:off x="4553712" y="1783080"/>
            <a:ext cx="3090672" cy="685800"/>
          </a:xfrm>
          <a:prstGeom prst="rect">
            <a:avLst/>
          </a:prstGeom>
          <a:noFill/>
          <a:ln/>
        </p:spPr>
        <p:txBody>
          <a:bodyPr wrap="square" lIns="0" tIns="0" rIns="0" bIns="0" rtlCol="0" anchor="ctr"/>
          <a:lstStyle/>
          <a:p>
            <a:pPr algn="ctr" indent="0" marL="0">
              <a:buNone/>
            </a:pPr>
            <a:r>
              <a:rPr lang="en-US" sz="3600" b="1" dirty="0">
                <a:solidFill>
                  <a:srgbClr val="147A4C"/>
                </a:solidFill>
                <a:latin typeface="Arial" pitchFamily="34" charset="0"/>
                <a:ea typeface="Arial" pitchFamily="34" charset="-122"/>
                <a:cs typeface="Arial" pitchFamily="34" charset="-120"/>
              </a:rPr>
              <a:t>0.857</a:t>
            </a:r>
            <a:endParaRPr lang="en-US" sz="3600" dirty="0"/>
          </a:p>
        </p:txBody>
      </p:sp>
      <p:sp>
        <p:nvSpPr>
          <p:cNvPr id="9" name="Text 7"/>
          <p:cNvSpPr/>
          <p:nvPr/>
        </p:nvSpPr>
        <p:spPr>
          <a:xfrm>
            <a:off x="4599432" y="2487168"/>
            <a:ext cx="2999232" cy="594360"/>
          </a:xfrm>
          <a:prstGeom prst="rect">
            <a:avLst/>
          </a:prstGeom>
          <a:noFill/>
          <a:ln/>
        </p:spPr>
        <p:txBody>
          <a:bodyPr wrap="square" lIns="0" tIns="0" rIns="0" bIns="0" rtlCol="0" anchor="t"/>
          <a:lstStyle/>
          <a:p>
            <a:pPr algn="ctr" indent="0" marL="0">
              <a:buNone/>
            </a:pPr>
            <a:r>
              <a:rPr lang="en-US" sz="1600" dirty="0">
                <a:solidFill>
                  <a:srgbClr val="64748B"/>
                </a:solidFill>
                <a:latin typeface="Arial" pitchFamily="34" charset="0"/>
                <a:ea typeface="Arial" pitchFamily="34" charset="-122"/>
                <a:cs typeface="Arial" pitchFamily="34" charset="-120"/>
              </a:rPr>
              <a:t>F1 score, absenteeism risk prediction</a:t>
            </a:r>
            <a:endParaRPr lang="en-US" sz="1600" dirty="0"/>
          </a:p>
        </p:txBody>
      </p:sp>
      <p:sp>
        <p:nvSpPr>
          <p:cNvPr id="10" name="Shape 8"/>
          <p:cNvSpPr/>
          <p:nvPr/>
        </p:nvSpPr>
        <p:spPr>
          <a:xfrm>
            <a:off x="8138160" y="1645920"/>
            <a:ext cx="3364992" cy="1600200"/>
          </a:xfrm>
          <a:prstGeom prst="rect">
            <a:avLst/>
          </a:prstGeom>
          <a:solidFill>
            <a:srgbClr val="EAF6EF"/>
          </a:solidFill>
          <a:ln w="6350">
            <a:solidFill>
              <a:srgbClr val="EAF6EF"/>
            </a:solidFill>
            <a:prstDash val="solid"/>
          </a:ln>
        </p:spPr>
      </p:sp>
      <p:sp>
        <p:nvSpPr>
          <p:cNvPr id="11" name="Text 9"/>
          <p:cNvSpPr/>
          <p:nvPr/>
        </p:nvSpPr>
        <p:spPr>
          <a:xfrm>
            <a:off x="8275320" y="1783080"/>
            <a:ext cx="3090672" cy="685800"/>
          </a:xfrm>
          <a:prstGeom prst="rect">
            <a:avLst/>
          </a:prstGeom>
          <a:noFill/>
          <a:ln/>
        </p:spPr>
        <p:txBody>
          <a:bodyPr wrap="square" lIns="0" tIns="0" rIns="0" bIns="0" rtlCol="0" anchor="ctr"/>
          <a:lstStyle/>
          <a:p>
            <a:pPr algn="ctr" indent="0" marL="0">
              <a:buNone/>
            </a:pPr>
            <a:r>
              <a:rPr lang="en-US" sz="3600" b="1" dirty="0">
                <a:solidFill>
                  <a:srgbClr val="147A4C"/>
                </a:solidFill>
                <a:latin typeface="Arial" pitchFamily="34" charset="0"/>
                <a:ea typeface="Arial" pitchFamily="34" charset="-122"/>
                <a:cs typeface="Arial" pitchFamily="34" charset="-120"/>
              </a:rPr>
              <a:t>0.833</a:t>
            </a:r>
            <a:endParaRPr lang="en-US" sz="3600" dirty="0"/>
          </a:p>
        </p:txBody>
      </p:sp>
      <p:sp>
        <p:nvSpPr>
          <p:cNvPr id="12" name="Text 10"/>
          <p:cNvSpPr/>
          <p:nvPr/>
        </p:nvSpPr>
        <p:spPr>
          <a:xfrm>
            <a:off x="8321040" y="2487168"/>
            <a:ext cx="2999232" cy="594360"/>
          </a:xfrm>
          <a:prstGeom prst="rect">
            <a:avLst/>
          </a:prstGeom>
          <a:noFill/>
          <a:ln/>
        </p:spPr>
        <p:txBody>
          <a:bodyPr wrap="square" lIns="0" tIns="0" rIns="0" bIns="0" rtlCol="0" anchor="t"/>
          <a:lstStyle/>
          <a:p>
            <a:pPr algn="ctr" indent="0" marL="0">
              <a:buNone/>
            </a:pPr>
            <a:r>
              <a:rPr lang="en-US" sz="1600" dirty="0">
                <a:solidFill>
                  <a:srgbClr val="64748B"/>
                </a:solidFill>
                <a:latin typeface="Arial" pitchFamily="34" charset="0"/>
                <a:ea typeface="Arial" pitchFamily="34" charset="-122"/>
                <a:cs typeface="Arial" pitchFamily="34" charset="-120"/>
              </a:rPr>
              <a:t>accuracy on the model’s held-out split</a:t>
            </a:r>
            <a:endParaRPr lang="en-US" sz="1600" dirty="0"/>
          </a:p>
        </p:txBody>
      </p:sp>
      <p:sp>
        <p:nvSpPr>
          <p:cNvPr id="13" name="Text 11"/>
          <p:cNvSpPr/>
          <p:nvPr/>
        </p:nvSpPr>
        <p:spPr>
          <a:xfrm>
            <a:off x="685800" y="3566160"/>
            <a:ext cx="10817352" cy="2651760"/>
          </a:xfrm>
          <a:prstGeom prst="rect">
            <a:avLst/>
          </a:prstGeom>
          <a:noFill/>
          <a:ln/>
        </p:spPr>
        <p:txBody>
          <a:bodyPr wrap="square" lIns="0" tIns="0" rIns="0" bIns="0" rtlCol="0" anchor="t"/>
          <a:lstStyle/>
          <a:p>
            <a:pPr algn="l" indent="0" marL="0">
              <a:lnSpc>
                <a:spcPct val="114000"/>
              </a:lnSpc>
              <a:spcAft>
                <a:spcPts val="1400"/>
              </a:spcAft>
              <a:buNone/>
            </a:pPr>
            <a:r>
              <a:rPr lang="en-US" sz="1900" dirty="0">
                <a:solidFill>
                  <a:srgbClr val="0F172B"/>
                </a:solidFill>
                <a:latin typeface="Arial" pitchFamily="34" charset="0"/>
                <a:ea typeface="Arial" pitchFamily="34" charset="-122"/>
                <a:cs typeface="Arial" pitchFamily="34" charset="-120"/>
              </a:rPr>
              <a:t>The figures come from a seeded synthetic dataset with known ground truth, not from live institutional data. They show that the pipeline reliably detects the patterns it was built to detect.</a:t>
            </a:r>
            <a:endParaRPr lang="en-US" sz="1900" dirty="0"/>
          </a:p>
          <a:p>
            <a:pPr algn="l" indent="0" marL="0">
              <a:lnSpc>
                <a:spcPct val="114000"/>
              </a:lnSpc>
              <a:spcAft>
                <a:spcPts val="1400"/>
              </a:spcAft>
              <a:buNone/>
            </a:pPr>
            <a:r>
              <a:rPr lang="en-US" sz="1900" dirty="0">
                <a:solidFill>
                  <a:srgbClr val="0F172B"/>
                </a:solidFill>
                <a:latin typeface="Arial" pitchFamily="34" charset="0"/>
                <a:ea typeface="Arial" pitchFamily="34" charset="-122"/>
                <a:cs typeface="Arial" pitchFamily="34" charset="-120"/>
              </a:rPr>
              <a:t>Risk prediction reached precision of 0.750 and recall of 1.000 at a threshold of 0.50 — every high-risk employee was caught, at the cost of four false positives among twelve.</a:t>
            </a:r>
            <a:endParaRPr lang="en-US" sz="1900" dirty="0"/>
          </a:p>
          <a:p>
            <a:pPr algn="l" indent="0" marL="0">
              <a:lnSpc>
                <a:spcPct val="114000"/>
              </a:lnSpc>
              <a:spcAft>
                <a:spcPts val="1400"/>
              </a:spcAft>
              <a:buNone/>
            </a:pPr>
            <a:r>
              <a:rPr lang="en-US" sz="1900" dirty="0">
                <a:solidFill>
                  <a:srgbClr val="0F172B"/>
                </a:solidFill>
                <a:latin typeface="Arial" pitchFamily="34" charset="0"/>
                <a:ea typeface="Arial" pitchFamily="34" charset="-122"/>
                <a:cs typeface="Arial" pitchFamily="34" charset="-120"/>
              </a:rPr>
              <a:t>For an early-warning tool meant to prompt a conversation rather than a sanction, that trade-off is the right way round.</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Conclusion</a:t>
            </a:r>
            <a:endParaRPr lang="en-US" sz="3200" dirty="0"/>
          </a:p>
        </p:txBody>
      </p:sp>
      <p:sp>
        <p:nvSpPr>
          <p:cNvPr id="4" name="Text 2"/>
          <p:cNvSpPr/>
          <p:nvPr/>
        </p:nvSpPr>
        <p:spPr>
          <a:xfrm>
            <a:off x="685800" y="1691640"/>
            <a:ext cx="10817352" cy="4572000"/>
          </a:xfrm>
          <a:prstGeom prst="rect">
            <a:avLst/>
          </a:prstGeom>
          <a:noFill/>
          <a:ln/>
        </p:spPr>
        <p:txBody>
          <a:bodyPr wrap="square" lIns="0" tIns="0" rIns="0" bIns="0" rtlCol="0" anchor="t"/>
          <a:lstStyle/>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The project set out to remove one defect: an absence the institution itself approved being recorded as unauthorised, because capture and permission management run as separate systems.</a:t>
            </a:r>
            <a:endParaRPr lang="en-US" sz="2200" dirty="0"/>
          </a:p>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It has done so with an audited, idempotent and retroactive synchronisation engine that writes the correction to the stored record, while never overwriting a human correction or a real punch.</a:t>
            </a:r>
            <a:endParaRPr lang="en-US" sz="2200" dirty="0"/>
          </a:p>
          <a:p>
            <a:pPr algn="l" indent="0" marL="0">
              <a:lnSpc>
                <a:spcPct val="114000"/>
              </a:lnSpc>
              <a:spcAft>
                <a:spcPts val="1800"/>
              </a:spcAft>
              <a:buNone/>
            </a:pPr>
            <a:r>
              <a:rPr lang="en-US" sz="2200" dirty="0">
                <a:solidFill>
                  <a:srgbClr val="0F172B"/>
                </a:solidFill>
                <a:latin typeface="Arial" pitchFamily="34" charset="0"/>
                <a:ea typeface="Arial" pitchFamily="34" charset="-122"/>
                <a:cs typeface="Arial" pitchFamily="34" charset="-120"/>
              </a:rPr>
              <a:t>The wider contribution is that synchronisation belongs in the stored record rather than in the report, and that placing it there is what allows an analytical layer above it to be trusted.</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76072"/>
            <a:ext cx="219456" cy="219456"/>
          </a:xfrm>
          <a:prstGeom prst="rect">
            <a:avLst/>
          </a:prstGeom>
          <a:solidFill>
            <a:srgbClr val="147A4C"/>
          </a:solidFill>
          <a:ln w="12700">
            <a:solidFill>
              <a:srgbClr val="147A4C"/>
            </a:solidFill>
            <a:prstDash val="solid"/>
          </a:ln>
        </p:spPr>
      </p:sp>
      <p:sp>
        <p:nvSpPr>
          <p:cNvPr id="3" name="Text 1"/>
          <p:cNvSpPr/>
          <p:nvPr/>
        </p:nvSpPr>
        <p:spPr>
          <a:xfrm>
            <a:off x="1133856" y="384048"/>
            <a:ext cx="10369296" cy="603504"/>
          </a:xfrm>
          <a:prstGeom prst="rect">
            <a:avLst/>
          </a:prstGeom>
          <a:noFill/>
          <a:ln/>
        </p:spPr>
        <p:txBody>
          <a:bodyPr wrap="square" lIns="0" tIns="0" rIns="0" bIns="0" rtlCol="0" anchor="ctr"/>
          <a:lstStyle/>
          <a:p>
            <a:pPr algn="l" indent="0" marL="0">
              <a:buNone/>
            </a:pPr>
            <a:r>
              <a:rPr lang="en-US" sz="3200" b="1" dirty="0">
                <a:solidFill>
                  <a:srgbClr val="0F172B"/>
                </a:solidFill>
                <a:latin typeface="Arial" pitchFamily="34" charset="0"/>
                <a:ea typeface="Arial" pitchFamily="34" charset="-122"/>
                <a:cs typeface="Arial" pitchFamily="34" charset="-120"/>
              </a:rPr>
              <a:t>Recommendations and Future Work</a:t>
            </a:r>
            <a:endParaRPr lang="en-US" sz="3200" dirty="0"/>
          </a:p>
        </p:txBody>
      </p:sp>
      <p:sp>
        <p:nvSpPr>
          <p:cNvPr id="4" name="Shape 2"/>
          <p:cNvSpPr/>
          <p:nvPr/>
        </p:nvSpPr>
        <p:spPr>
          <a:xfrm>
            <a:off x="905256" y="1901952"/>
            <a:ext cx="146304" cy="146304"/>
          </a:xfrm>
          <a:prstGeom prst="rect">
            <a:avLst/>
          </a:prstGeom>
          <a:solidFill>
            <a:srgbClr val="147A4C"/>
          </a:solidFill>
          <a:ln w="12700">
            <a:solidFill>
              <a:srgbClr val="147A4C"/>
            </a:solidFill>
            <a:prstDash val="solid"/>
          </a:ln>
        </p:spPr>
      </p:sp>
      <p:sp>
        <p:nvSpPr>
          <p:cNvPr id="5" name="Text 3"/>
          <p:cNvSpPr/>
          <p:nvPr/>
        </p:nvSpPr>
        <p:spPr>
          <a:xfrm>
            <a:off x="1252728" y="1783080"/>
            <a:ext cx="10067544" cy="86868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Run it beside the current process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Deploy in one department for one reporting cycle and compare the two monthly reports. This gives the before-and-after measurement this project could not obtain.</a:t>
            </a:r>
            <a:endParaRPr lang="en-US" sz="2000" dirty="0"/>
          </a:p>
        </p:txBody>
      </p:sp>
      <p:sp>
        <p:nvSpPr>
          <p:cNvPr id="6" name="Shape 4"/>
          <p:cNvSpPr/>
          <p:nvPr/>
        </p:nvSpPr>
        <p:spPr>
          <a:xfrm>
            <a:off x="905256" y="3136392"/>
            <a:ext cx="146304" cy="146304"/>
          </a:xfrm>
          <a:prstGeom prst="rect">
            <a:avLst/>
          </a:prstGeom>
          <a:solidFill>
            <a:srgbClr val="147A4C"/>
          </a:solidFill>
          <a:ln w="12700">
            <a:solidFill>
              <a:srgbClr val="147A4C"/>
            </a:solidFill>
            <a:prstDash val="solid"/>
          </a:ln>
        </p:spPr>
      </p:sp>
      <p:sp>
        <p:nvSpPr>
          <p:cNvPr id="7" name="Text 5"/>
          <p:cNvSpPr/>
          <p:nvPr/>
        </p:nvSpPr>
        <p:spPr>
          <a:xfrm>
            <a:off x="1252728" y="3017520"/>
            <a:ext cx="10067544" cy="86868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Re-evaluate on real data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Re-run the existing evaluation harness against human-labelled institutional history. Only the dataset changes; the code and thresholds carry over unchanged.</a:t>
            </a:r>
            <a:endParaRPr lang="en-US" sz="2000" dirty="0"/>
          </a:p>
        </p:txBody>
      </p:sp>
      <p:sp>
        <p:nvSpPr>
          <p:cNvPr id="8" name="Shape 6"/>
          <p:cNvSpPr/>
          <p:nvPr/>
        </p:nvSpPr>
        <p:spPr>
          <a:xfrm>
            <a:off x="905256" y="4370832"/>
            <a:ext cx="146304" cy="146304"/>
          </a:xfrm>
          <a:prstGeom prst="rect">
            <a:avLst/>
          </a:prstGeom>
          <a:solidFill>
            <a:srgbClr val="147A4C"/>
          </a:solidFill>
          <a:ln w="12700">
            <a:solidFill>
              <a:srgbClr val="147A4C"/>
            </a:solidFill>
            <a:prstDash val="solid"/>
          </a:ln>
        </p:spPr>
      </p:sp>
      <p:sp>
        <p:nvSpPr>
          <p:cNvPr id="9" name="Text 7"/>
          <p:cNvSpPr/>
          <p:nvPr/>
        </p:nvSpPr>
        <p:spPr>
          <a:xfrm>
            <a:off x="1252728" y="4251960"/>
            <a:ext cx="10067544" cy="868680"/>
          </a:xfrm>
          <a:prstGeom prst="rect">
            <a:avLst/>
          </a:prstGeom>
          <a:noFill/>
          <a:ln/>
        </p:spPr>
        <p:txBody>
          <a:bodyPr wrap="square" lIns="0" tIns="0" rIns="0" bIns="0" rtlCol="0" anchor="t"/>
          <a:lstStyle/>
          <a:p>
            <a:pPr algn="l" indent="0" marL="0">
              <a:lnSpc>
                <a:spcPct val="112000"/>
              </a:lnSpc>
              <a:buNone/>
            </a:pPr>
            <a:r>
              <a:rPr lang="en-US" sz="2000" b="1" dirty="0">
                <a:solidFill>
                  <a:srgbClr val="147A4C"/>
                </a:solidFill>
                <a:latin typeface="Arial" pitchFamily="34" charset="0"/>
                <a:ea typeface="Arial" pitchFamily="34" charset="-122"/>
                <a:cs typeface="Arial" pitchFamily="34" charset="-120"/>
              </a:rPr>
              <a:t>Extend and connect — </a:t>
            </a:r>
            <a:pPr algn="l" indent="0" marL="0">
              <a:lnSpc>
                <a:spcPct val="112000"/>
              </a:lnSpc>
              <a:buNone/>
            </a:pPr>
            <a:r>
              <a:rPr lang="en-US" sz="2000" dirty="0">
                <a:solidFill>
                  <a:srgbClr val="0F172B"/>
                </a:solidFill>
                <a:latin typeface="Arial" pitchFamily="34" charset="0"/>
                <a:ea typeface="Arial" pitchFamily="34" charset="-122"/>
                <a:cs typeface="Arial" pitchFamily="34" charset="-120"/>
              </a:rPr>
              <a:t>Add drivers for further terminal families, and integrate the corrected record with payroll — the largest remaining place where the original error could re-enter.</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72B"/>
        </a:solidFill>
      </p:bgPr>
    </p:bg>
    <p:spTree>
      <p:nvGrpSpPr>
        <p:cNvPr id="1" name=""/>
        <p:cNvGrpSpPr/>
        <p:nvPr/>
      </p:nvGrpSpPr>
      <p:grpSpPr>
        <a:xfrm>
          <a:off x="0" y="0"/>
          <a:ext cx="0" cy="0"/>
          <a:chOff x="0" y="0"/>
          <a:chExt cx="0" cy="0"/>
        </a:xfrm>
      </p:grpSpPr>
      <p:sp>
        <p:nvSpPr>
          <p:cNvPr id="2" name="Text 0"/>
          <p:cNvSpPr/>
          <p:nvPr/>
        </p:nvSpPr>
        <p:spPr>
          <a:xfrm>
            <a:off x="914400" y="2697480"/>
            <a:ext cx="10360152" cy="822960"/>
          </a:xfrm>
          <a:prstGeom prst="rect">
            <a:avLst/>
          </a:prstGeom>
          <a:noFill/>
          <a:ln/>
        </p:spPr>
        <p:txBody>
          <a:bodyPr wrap="square" lIns="0" tIns="0" rIns="0" bIns="0" rtlCol="0" anchor="ctr"/>
          <a:lstStyle/>
          <a:p>
            <a:pPr algn="ctr" indent="0" marL="0">
              <a:buNone/>
            </a:pPr>
            <a:r>
              <a:rPr lang="en-US" sz="4400" b="1" dirty="0">
                <a:solidFill>
                  <a:srgbClr val="2EB877"/>
                </a:solidFill>
                <a:latin typeface="Arial" pitchFamily="34" charset="0"/>
                <a:ea typeface="Arial" pitchFamily="34" charset="-122"/>
                <a:cs typeface="Arial" pitchFamily="34" charset="-120"/>
              </a:rPr>
              <a:t>Asante sana.</a:t>
            </a:r>
            <a:endParaRPr lang="en-US" sz="4400" dirty="0"/>
          </a:p>
        </p:txBody>
      </p:sp>
      <p:sp>
        <p:nvSpPr>
          <p:cNvPr id="3" name="Text 1"/>
          <p:cNvSpPr/>
          <p:nvPr/>
        </p:nvSpPr>
        <p:spPr>
          <a:xfrm>
            <a:off x="914400" y="3611880"/>
            <a:ext cx="10360152" cy="457200"/>
          </a:xfrm>
          <a:prstGeom prst="rect">
            <a:avLst/>
          </a:prstGeom>
          <a:noFill/>
          <a:ln/>
        </p:spPr>
        <p:txBody>
          <a:bodyPr wrap="square" lIns="0" tIns="0" rIns="0" bIns="0"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Thank you — we welcome your questions.</a:t>
            </a:r>
            <a:endParaRPr lang="en-US" sz="2000" dirty="0"/>
          </a:p>
        </p:txBody>
      </p:sp>
      <p:sp>
        <p:nvSpPr>
          <p:cNvPr id="4" name="Text 2"/>
          <p:cNvSpPr/>
          <p:nvPr/>
        </p:nvSpPr>
        <p:spPr>
          <a:xfrm>
            <a:off x="914400" y="5120640"/>
            <a:ext cx="10360152" cy="365760"/>
          </a:xfrm>
          <a:prstGeom prst="rect">
            <a:avLst/>
          </a:prstGeom>
          <a:noFill/>
          <a:ln/>
        </p:spPr>
        <p:txBody>
          <a:bodyPr wrap="square" lIns="0" tIns="0" rIns="0" bIns="0" rtlCol="0" anchor="ctr"/>
          <a:lstStyle/>
          <a:p>
            <a:pPr algn="ctr" indent="0" marL="0">
              <a:buNone/>
            </a:pPr>
            <a:r>
              <a:rPr lang="en-US" sz="1500" dirty="0">
                <a:solidFill>
                  <a:srgbClr val="94A3B8"/>
                </a:solidFill>
                <a:latin typeface="Arial" pitchFamily="34" charset="0"/>
                <a:ea typeface="Arial" pitchFamily="34" charset="-122"/>
                <a:cs typeface="Arial" pitchFamily="34" charset="-120"/>
              </a:rPr>
              <a:t>THOMAS SHAYO   ·   Institute of Finance Management   ·   August 2026</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EAPMS Project Presentation</dc:title>
  <dc:subject>PptxGenJS Presentation</dc:subject>
  <dc:creator>Thomas Shayo</dc:creator>
  <cp:lastModifiedBy>Thomas Shayo</cp:lastModifiedBy>
  <cp:revision>1</cp:revision>
  <dcterms:created xsi:type="dcterms:W3CDTF">2026-08-22T00:21:29Z</dcterms:created>
  <dcterms:modified xsi:type="dcterms:W3CDTF">2026-08-22T00:21:29Z</dcterms:modified>
</cp:coreProperties>
</file>